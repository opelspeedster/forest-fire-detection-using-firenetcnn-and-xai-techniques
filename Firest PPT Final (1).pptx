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301" r:id="rId4"/>
    <p:sldId id="310" r:id="rId5"/>
    <p:sldId id="297" r:id="rId6"/>
    <p:sldId id="305" r:id="rId7"/>
    <p:sldId id="304" r:id="rId8"/>
    <p:sldId id="308" r:id="rId9"/>
    <p:sldId id="309" r:id="rId10"/>
    <p:sldId id="303" r:id="rId11"/>
    <p:sldId id="298" r:id="rId12"/>
    <p:sldId id="306" r:id="rId13"/>
    <p:sldId id="307" r:id="rId14"/>
    <p:sldId id="270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467B02-947F-4DB9-8EC4-BA2B94E3F2FE}" v="1" dt="2025-09-10T06:07:07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34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63FE6-F090-4C79-86B8-00F1C6B52F1E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53607A-C9CE-4A32-8FAC-1E237E59A8A4}">
      <dgm:prSet phldrT="[Text]" custT="1"/>
      <dgm:spPr/>
      <dgm:t>
        <a:bodyPr/>
        <a:lstStyle/>
        <a:p>
          <a:r>
            <a:rPr lang="en-US" sz="1600" dirty="0"/>
            <a:t>Data </a:t>
          </a:r>
        </a:p>
        <a:p>
          <a:r>
            <a:rPr lang="en-US" sz="1600" dirty="0"/>
            <a:t>collection</a:t>
          </a:r>
          <a:endParaRPr lang="en-IN" sz="1600" dirty="0"/>
        </a:p>
      </dgm:t>
    </dgm:pt>
    <dgm:pt modelId="{97B945AB-9D61-4404-A5D9-9E8DFFFD612E}" type="parTrans" cxnId="{F0FF8A82-7E7B-4092-B2A4-96B2E56E2A39}">
      <dgm:prSet/>
      <dgm:spPr/>
      <dgm:t>
        <a:bodyPr/>
        <a:lstStyle/>
        <a:p>
          <a:endParaRPr lang="en-IN"/>
        </a:p>
      </dgm:t>
    </dgm:pt>
    <dgm:pt modelId="{6305A863-2FFF-47B3-97DF-5077D9398916}" type="sibTrans" cxnId="{F0FF8A82-7E7B-4092-B2A4-96B2E56E2A39}">
      <dgm:prSet/>
      <dgm:spPr/>
      <dgm:t>
        <a:bodyPr/>
        <a:lstStyle/>
        <a:p>
          <a:endParaRPr lang="en-IN"/>
        </a:p>
      </dgm:t>
    </dgm:pt>
    <dgm:pt modelId="{118AA912-4DA9-4C4D-9437-50CC9C3D516A}">
      <dgm:prSet phldrT="[Text]" custT="1"/>
      <dgm:spPr/>
      <dgm:t>
        <a:bodyPr/>
        <a:lstStyle/>
        <a:p>
          <a:r>
            <a:rPr lang="en-US" sz="1600" dirty="0"/>
            <a:t>Data</a:t>
          </a:r>
        </a:p>
        <a:p>
          <a:r>
            <a:rPr lang="en-US" sz="1600" dirty="0"/>
            <a:t>segmentation</a:t>
          </a:r>
          <a:endParaRPr lang="en-IN" sz="1600" dirty="0"/>
        </a:p>
      </dgm:t>
    </dgm:pt>
    <dgm:pt modelId="{C3A8C996-0EDF-4984-A9CD-61ADC4D3ACE0}" type="parTrans" cxnId="{A2244AAB-6E43-47FA-87B2-4C25839FE9B2}">
      <dgm:prSet/>
      <dgm:spPr/>
      <dgm:t>
        <a:bodyPr/>
        <a:lstStyle/>
        <a:p>
          <a:endParaRPr lang="en-IN"/>
        </a:p>
      </dgm:t>
    </dgm:pt>
    <dgm:pt modelId="{0B3F3CDE-008B-4A26-B065-2585D88442EF}" type="sibTrans" cxnId="{A2244AAB-6E43-47FA-87B2-4C25839FE9B2}">
      <dgm:prSet/>
      <dgm:spPr/>
      <dgm:t>
        <a:bodyPr/>
        <a:lstStyle/>
        <a:p>
          <a:endParaRPr lang="en-IN"/>
        </a:p>
      </dgm:t>
    </dgm:pt>
    <dgm:pt modelId="{3D9D68EE-C1D4-4611-B443-97687170F7DA}">
      <dgm:prSet phldrT="[Text]" custT="1"/>
      <dgm:spPr/>
      <dgm:t>
        <a:bodyPr/>
        <a:lstStyle/>
        <a:p>
          <a:r>
            <a:rPr lang="en-US" sz="1600" dirty="0"/>
            <a:t>Data</a:t>
          </a:r>
        </a:p>
        <a:p>
          <a:r>
            <a:rPr lang="en-US" sz="1600" dirty="0"/>
            <a:t>Augmentation</a:t>
          </a:r>
          <a:endParaRPr lang="en-IN" sz="1600" dirty="0"/>
        </a:p>
      </dgm:t>
    </dgm:pt>
    <dgm:pt modelId="{087DBC35-0C8A-4135-8FE5-C2FFE041BCCB}" type="parTrans" cxnId="{4863E94A-ADC9-4146-B871-8F591EA88013}">
      <dgm:prSet/>
      <dgm:spPr/>
      <dgm:t>
        <a:bodyPr/>
        <a:lstStyle/>
        <a:p>
          <a:endParaRPr lang="en-IN"/>
        </a:p>
      </dgm:t>
    </dgm:pt>
    <dgm:pt modelId="{B3D77B74-27A7-48C1-A4F7-6DB5919EA4A9}" type="sibTrans" cxnId="{4863E94A-ADC9-4146-B871-8F591EA88013}">
      <dgm:prSet/>
      <dgm:spPr/>
      <dgm:t>
        <a:bodyPr/>
        <a:lstStyle/>
        <a:p>
          <a:endParaRPr lang="en-IN"/>
        </a:p>
      </dgm:t>
    </dgm:pt>
    <dgm:pt modelId="{3401A147-FFDB-4D38-9679-F2A9DD67CC72}">
      <dgm:prSet phldrT="[Text]" custT="1"/>
      <dgm:spPr/>
      <dgm:t>
        <a:bodyPr/>
        <a:lstStyle/>
        <a:p>
          <a:r>
            <a:rPr lang="en-US" sz="1600" dirty="0"/>
            <a:t>Model</a:t>
          </a:r>
        </a:p>
        <a:p>
          <a:r>
            <a:rPr lang="en-US" sz="1600" dirty="0"/>
            <a:t>building</a:t>
          </a:r>
          <a:endParaRPr lang="en-IN" sz="1600" dirty="0"/>
        </a:p>
      </dgm:t>
    </dgm:pt>
    <dgm:pt modelId="{75B3AD7A-5309-4EE3-9FCA-86D606DE4114}" type="parTrans" cxnId="{7FE1BF99-B633-49AA-B822-A607FC9B8E75}">
      <dgm:prSet/>
      <dgm:spPr/>
      <dgm:t>
        <a:bodyPr/>
        <a:lstStyle/>
        <a:p>
          <a:endParaRPr lang="en-IN"/>
        </a:p>
      </dgm:t>
    </dgm:pt>
    <dgm:pt modelId="{DC7F90CA-C3D5-4253-9CC2-264162BA1D96}" type="sibTrans" cxnId="{7FE1BF99-B633-49AA-B822-A607FC9B8E75}">
      <dgm:prSet/>
      <dgm:spPr/>
      <dgm:t>
        <a:bodyPr/>
        <a:lstStyle/>
        <a:p>
          <a:endParaRPr lang="en-IN"/>
        </a:p>
      </dgm:t>
    </dgm:pt>
    <dgm:pt modelId="{2342AC3E-02FD-49D8-9F40-790C8D712958}">
      <dgm:prSet phldrT="[Text]" custT="1"/>
      <dgm:spPr/>
      <dgm:t>
        <a:bodyPr/>
        <a:lstStyle/>
        <a:p>
          <a:r>
            <a:rPr lang="en-US" sz="1600" dirty="0"/>
            <a:t>Data</a:t>
          </a:r>
        </a:p>
        <a:p>
          <a:r>
            <a:rPr lang="en-US" sz="1600" dirty="0"/>
            <a:t>splitting</a:t>
          </a:r>
          <a:endParaRPr lang="en-IN" sz="1600" dirty="0"/>
        </a:p>
      </dgm:t>
    </dgm:pt>
    <dgm:pt modelId="{C332F0CC-1680-4DF4-9C33-F3D6642C842A}" type="parTrans" cxnId="{2020F5BC-977C-40FC-814F-17CC231351B5}">
      <dgm:prSet/>
      <dgm:spPr/>
      <dgm:t>
        <a:bodyPr/>
        <a:lstStyle/>
        <a:p>
          <a:endParaRPr lang="en-IN"/>
        </a:p>
      </dgm:t>
    </dgm:pt>
    <dgm:pt modelId="{5F6F01C6-A4BD-466A-9F12-B4C29366CCB6}" type="sibTrans" cxnId="{2020F5BC-977C-40FC-814F-17CC231351B5}">
      <dgm:prSet/>
      <dgm:spPr/>
      <dgm:t>
        <a:bodyPr/>
        <a:lstStyle/>
        <a:p>
          <a:endParaRPr lang="en-IN"/>
        </a:p>
      </dgm:t>
    </dgm:pt>
    <dgm:pt modelId="{1413EF43-812B-406F-B23E-244F0215DC3E}">
      <dgm:prSet phldrT="[Text]" custT="1"/>
      <dgm:spPr/>
      <dgm:t>
        <a:bodyPr/>
        <a:lstStyle/>
        <a:p>
          <a:r>
            <a:rPr lang="en-US" sz="1600" dirty="0"/>
            <a:t>Model</a:t>
          </a:r>
        </a:p>
        <a:p>
          <a:r>
            <a:rPr lang="en-US" sz="1600" dirty="0"/>
            <a:t>evaluation</a:t>
          </a:r>
          <a:endParaRPr lang="en-IN" sz="1600" dirty="0"/>
        </a:p>
      </dgm:t>
    </dgm:pt>
    <dgm:pt modelId="{C974E7C5-0C4B-43C7-B3A5-E2A37A7A137B}" type="parTrans" cxnId="{5363DEF7-E44A-4401-B559-C916EDE21CFB}">
      <dgm:prSet/>
      <dgm:spPr/>
      <dgm:t>
        <a:bodyPr/>
        <a:lstStyle/>
        <a:p>
          <a:endParaRPr lang="en-IN"/>
        </a:p>
      </dgm:t>
    </dgm:pt>
    <dgm:pt modelId="{DB30E25A-F025-4808-B4DD-4327A4F840BB}" type="sibTrans" cxnId="{5363DEF7-E44A-4401-B559-C916EDE21CFB}">
      <dgm:prSet/>
      <dgm:spPr/>
      <dgm:t>
        <a:bodyPr/>
        <a:lstStyle/>
        <a:p>
          <a:endParaRPr lang="en-IN"/>
        </a:p>
      </dgm:t>
    </dgm:pt>
    <dgm:pt modelId="{ED5F9E08-DD53-41D8-A775-75950751A7EB}">
      <dgm:prSet phldrT="[Text]"/>
      <dgm:spPr/>
      <dgm:t>
        <a:bodyPr/>
        <a:lstStyle/>
        <a:p>
          <a:r>
            <a:rPr lang="en-US" sz="1600" dirty="0"/>
            <a:t>Explainable </a:t>
          </a:r>
        </a:p>
        <a:p>
          <a:r>
            <a:rPr lang="en-US" sz="1600" dirty="0"/>
            <a:t>AI</a:t>
          </a:r>
          <a:endParaRPr lang="en-IN" sz="1600" dirty="0"/>
        </a:p>
      </dgm:t>
    </dgm:pt>
    <dgm:pt modelId="{E8BB6C8B-0727-491B-A5CE-29980FB70774}" type="parTrans" cxnId="{94E48C5B-5C89-42DA-B933-55E51F789B1E}">
      <dgm:prSet/>
      <dgm:spPr/>
      <dgm:t>
        <a:bodyPr/>
        <a:lstStyle/>
        <a:p>
          <a:endParaRPr lang="en-IN"/>
        </a:p>
      </dgm:t>
    </dgm:pt>
    <dgm:pt modelId="{33165810-2153-4CA5-9F67-A68AFEBA321E}" type="sibTrans" cxnId="{94E48C5B-5C89-42DA-B933-55E51F789B1E}">
      <dgm:prSet/>
      <dgm:spPr/>
      <dgm:t>
        <a:bodyPr/>
        <a:lstStyle/>
        <a:p>
          <a:endParaRPr lang="en-IN"/>
        </a:p>
      </dgm:t>
    </dgm:pt>
    <dgm:pt modelId="{2556A0C8-9480-4D9E-A5BB-97D1376E4DEA}" type="pres">
      <dgm:prSet presAssocID="{A4C63FE6-F090-4C79-86B8-00F1C6B52F1E}" presName="Name0" presStyleCnt="0">
        <dgm:presLayoutVars>
          <dgm:dir/>
          <dgm:resizeHandles/>
        </dgm:presLayoutVars>
      </dgm:prSet>
      <dgm:spPr/>
    </dgm:pt>
    <dgm:pt modelId="{3A22387E-F22D-4962-9EE5-5C1ADB43B83B}" type="pres">
      <dgm:prSet presAssocID="{F853607A-C9CE-4A32-8FAC-1E237E59A8A4}" presName="compNode" presStyleCnt="0"/>
      <dgm:spPr/>
    </dgm:pt>
    <dgm:pt modelId="{E8F78F59-80C7-45C0-8DF8-ECFFD42845FB}" type="pres">
      <dgm:prSet presAssocID="{F853607A-C9CE-4A32-8FAC-1E237E59A8A4}" presName="dummyConnPt" presStyleCnt="0"/>
      <dgm:spPr/>
    </dgm:pt>
    <dgm:pt modelId="{0744A04A-AC78-44FA-A82D-E39E2F172180}" type="pres">
      <dgm:prSet presAssocID="{F853607A-C9CE-4A32-8FAC-1E237E59A8A4}" presName="node" presStyleLbl="node1" presStyleIdx="0" presStyleCnt="7">
        <dgm:presLayoutVars>
          <dgm:bulletEnabled val="1"/>
        </dgm:presLayoutVars>
      </dgm:prSet>
      <dgm:spPr/>
    </dgm:pt>
    <dgm:pt modelId="{0ABCBABE-E076-49D0-8393-2C6400A2996B}" type="pres">
      <dgm:prSet presAssocID="{6305A863-2FFF-47B3-97DF-5077D9398916}" presName="sibTrans" presStyleLbl="bgSibTrans2D1" presStyleIdx="0" presStyleCnt="6"/>
      <dgm:spPr/>
    </dgm:pt>
    <dgm:pt modelId="{7AA729C4-6ADE-41B5-9CFD-04F6247E5206}" type="pres">
      <dgm:prSet presAssocID="{118AA912-4DA9-4C4D-9437-50CC9C3D516A}" presName="compNode" presStyleCnt="0"/>
      <dgm:spPr/>
    </dgm:pt>
    <dgm:pt modelId="{17F846FB-24F8-4066-BAAB-2D3563642024}" type="pres">
      <dgm:prSet presAssocID="{118AA912-4DA9-4C4D-9437-50CC9C3D516A}" presName="dummyConnPt" presStyleCnt="0"/>
      <dgm:spPr/>
    </dgm:pt>
    <dgm:pt modelId="{9D2411A7-350B-4AC5-86D8-C7B8CE817B3A}" type="pres">
      <dgm:prSet presAssocID="{118AA912-4DA9-4C4D-9437-50CC9C3D516A}" presName="node" presStyleLbl="node1" presStyleIdx="1" presStyleCnt="7">
        <dgm:presLayoutVars>
          <dgm:bulletEnabled val="1"/>
        </dgm:presLayoutVars>
      </dgm:prSet>
      <dgm:spPr/>
    </dgm:pt>
    <dgm:pt modelId="{7E97E8E2-7672-4801-9523-1DCC86AD5D47}" type="pres">
      <dgm:prSet presAssocID="{0B3F3CDE-008B-4A26-B065-2585D88442EF}" presName="sibTrans" presStyleLbl="bgSibTrans2D1" presStyleIdx="1" presStyleCnt="6"/>
      <dgm:spPr/>
    </dgm:pt>
    <dgm:pt modelId="{4AA68063-5B10-4936-BCA4-8572763CEBC0}" type="pres">
      <dgm:prSet presAssocID="{3D9D68EE-C1D4-4611-B443-97687170F7DA}" presName="compNode" presStyleCnt="0"/>
      <dgm:spPr/>
    </dgm:pt>
    <dgm:pt modelId="{FE220A99-342C-4BFE-BF0C-8932CD6952F3}" type="pres">
      <dgm:prSet presAssocID="{3D9D68EE-C1D4-4611-B443-97687170F7DA}" presName="dummyConnPt" presStyleCnt="0"/>
      <dgm:spPr/>
    </dgm:pt>
    <dgm:pt modelId="{A25949A4-68BB-41A7-96E3-910A5B256035}" type="pres">
      <dgm:prSet presAssocID="{3D9D68EE-C1D4-4611-B443-97687170F7DA}" presName="node" presStyleLbl="node1" presStyleIdx="2" presStyleCnt="7">
        <dgm:presLayoutVars>
          <dgm:bulletEnabled val="1"/>
        </dgm:presLayoutVars>
      </dgm:prSet>
      <dgm:spPr/>
    </dgm:pt>
    <dgm:pt modelId="{5EE97CF2-0A8F-4889-94B6-324D8682B0DB}" type="pres">
      <dgm:prSet presAssocID="{B3D77B74-27A7-48C1-A4F7-6DB5919EA4A9}" presName="sibTrans" presStyleLbl="bgSibTrans2D1" presStyleIdx="2" presStyleCnt="6"/>
      <dgm:spPr/>
    </dgm:pt>
    <dgm:pt modelId="{80E27806-D415-4B7C-B339-8CA48131E263}" type="pres">
      <dgm:prSet presAssocID="{3401A147-FFDB-4D38-9679-F2A9DD67CC72}" presName="compNode" presStyleCnt="0"/>
      <dgm:spPr/>
    </dgm:pt>
    <dgm:pt modelId="{0DD47D47-AE53-4F28-A626-7E0E5FA57959}" type="pres">
      <dgm:prSet presAssocID="{3401A147-FFDB-4D38-9679-F2A9DD67CC72}" presName="dummyConnPt" presStyleCnt="0"/>
      <dgm:spPr/>
    </dgm:pt>
    <dgm:pt modelId="{969FB987-7067-4976-84C0-D3CDA0807700}" type="pres">
      <dgm:prSet presAssocID="{3401A147-FFDB-4D38-9679-F2A9DD67CC72}" presName="node" presStyleLbl="node1" presStyleIdx="3" presStyleCnt="7">
        <dgm:presLayoutVars>
          <dgm:bulletEnabled val="1"/>
        </dgm:presLayoutVars>
      </dgm:prSet>
      <dgm:spPr/>
    </dgm:pt>
    <dgm:pt modelId="{A1678780-F354-4314-A049-9853A1F9EF0D}" type="pres">
      <dgm:prSet presAssocID="{DC7F90CA-C3D5-4253-9CC2-264162BA1D96}" presName="sibTrans" presStyleLbl="bgSibTrans2D1" presStyleIdx="3" presStyleCnt="6"/>
      <dgm:spPr/>
    </dgm:pt>
    <dgm:pt modelId="{CA4CACC3-BC4F-4312-B420-BE885E0D13E3}" type="pres">
      <dgm:prSet presAssocID="{2342AC3E-02FD-49D8-9F40-790C8D712958}" presName="compNode" presStyleCnt="0"/>
      <dgm:spPr/>
    </dgm:pt>
    <dgm:pt modelId="{3216390D-FD06-446A-A28D-972E463046DA}" type="pres">
      <dgm:prSet presAssocID="{2342AC3E-02FD-49D8-9F40-790C8D712958}" presName="dummyConnPt" presStyleCnt="0"/>
      <dgm:spPr/>
    </dgm:pt>
    <dgm:pt modelId="{6167E559-FBBF-4F87-991B-4C021F134703}" type="pres">
      <dgm:prSet presAssocID="{2342AC3E-02FD-49D8-9F40-790C8D712958}" presName="node" presStyleLbl="node1" presStyleIdx="4" presStyleCnt="7">
        <dgm:presLayoutVars>
          <dgm:bulletEnabled val="1"/>
        </dgm:presLayoutVars>
      </dgm:prSet>
      <dgm:spPr/>
    </dgm:pt>
    <dgm:pt modelId="{18C3DDE0-560C-454F-A3D1-E7548903F536}" type="pres">
      <dgm:prSet presAssocID="{5F6F01C6-A4BD-466A-9F12-B4C29366CCB6}" presName="sibTrans" presStyleLbl="bgSibTrans2D1" presStyleIdx="4" presStyleCnt="6"/>
      <dgm:spPr/>
    </dgm:pt>
    <dgm:pt modelId="{AD60ED3D-AA89-4A77-8837-0C95EB04E7A8}" type="pres">
      <dgm:prSet presAssocID="{1413EF43-812B-406F-B23E-244F0215DC3E}" presName="compNode" presStyleCnt="0"/>
      <dgm:spPr/>
    </dgm:pt>
    <dgm:pt modelId="{6ADE7F80-393A-4938-9A2F-F344F91F6071}" type="pres">
      <dgm:prSet presAssocID="{1413EF43-812B-406F-B23E-244F0215DC3E}" presName="dummyConnPt" presStyleCnt="0"/>
      <dgm:spPr/>
    </dgm:pt>
    <dgm:pt modelId="{A9E716D1-AB52-41DE-AC51-28F38C4C19F5}" type="pres">
      <dgm:prSet presAssocID="{1413EF43-812B-406F-B23E-244F0215DC3E}" presName="node" presStyleLbl="node1" presStyleIdx="5" presStyleCnt="7">
        <dgm:presLayoutVars>
          <dgm:bulletEnabled val="1"/>
        </dgm:presLayoutVars>
      </dgm:prSet>
      <dgm:spPr/>
    </dgm:pt>
    <dgm:pt modelId="{33538F19-896D-40C0-832A-050D205804B3}" type="pres">
      <dgm:prSet presAssocID="{DB30E25A-F025-4808-B4DD-4327A4F840BB}" presName="sibTrans" presStyleLbl="bgSibTrans2D1" presStyleIdx="5" presStyleCnt="6"/>
      <dgm:spPr/>
    </dgm:pt>
    <dgm:pt modelId="{EEABB736-6246-4DF7-9F8C-2EF06E7EF47E}" type="pres">
      <dgm:prSet presAssocID="{ED5F9E08-DD53-41D8-A775-75950751A7EB}" presName="compNode" presStyleCnt="0"/>
      <dgm:spPr/>
    </dgm:pt>
    <dgm:pt modelId="{13AC75DC-9C6E-4302-90D0-B3257365E549}" type="pres">
      <dgm:prSet presAssocID="{ED5F9E08-DD53-41D8-A775-75950751A7EB}" presName="dummyConnPt" presStyleCnt="0"/>
      <dgm:spPr/>
    </dgm:pt>
    <dgm:pt modelId="{D413B5F2-4AEE-4B02-8B07-17ED96A47E7A}" type="pres">
      <dgm:prSet presAssocID="{ED5F9E08-DD53-41D8-A775-75950751A7EB}" presName="node" presStyleLbl="node1" presStyleIdx="6" presStyleCnt="7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5191501A-B527-4BBC-A2B6-1F55FAB32529}" type="presOf" srcId="{2342AC3E-02FD-49D8-9F40-790C8D712958}" destId="{6167E559-FBBF-4F87-991B-4C021F134703}" srcOrd="0" destOrd="0" presId="urn:microsoft.com/office/officeart/2005/8/layout/bProcess4"/>
    <dgm:cxn modelId="{2D84921D-5AF0-41D2-905A-4E682BCF262C}" type="presOf" srcId="{0B3F3CDE-008B-4A26-B065-2585D88442EF}" destId="{7E97E8E2-7672-4801-9523-1DCC86AD5D47}" srcOrd="0" destOrd="0" presId="urn:microsoft.com/office/officeart/2005/8/layout/bProcess4"/>
    <dgm:cxn modelId="{0DF6872C-FC41-4666-9478-463D8FE987EB}" type="presOf" srcId="{B3D77B74-27A7-48C1-A4F7-6DB5919EA4A9}" destId="{5EE97CF2-0A8F-4889-94B6-324D8682B0DB}" srcOrd="0" destOrd="0" presId="urn:microsoft.com/office/officeart/2005/8/layout/bProcess4"/>
    <dgm:cxn modelId="{C17AB830-DBC1-41D6-919B-FA3476015C17}" type="presOf" srcId="{6305A863-2FFF-47B3-97DF-5077D9398916}" destId="{0ABCBABE-E076-49D0-8393-2C6400A2996B}" srcOrd="0" destOrd="0" presId="urn:microsoft.com/office/officeart/2005/8/layout/bProcess4"/>
    <dgm:cxn modelId="{94E48C5B-5C89-42DA-B933-55E51F789B1E}" srcId="{A4C63FE6-F090-4C79-86B8-00F1C6B52F1E}" destId="{ED5F9E08-DD53-41D8-A775-75950751A7EB}" srcOrd="6" destOrd="0" parTransId="{E8BB6C8B-0727-491B-A5CE-29980FB70774}" sibTransId="{33165810-2153-4CA5-9F67-A68AFEBA321E}"/>
    <dgm:cxn modelId="{38024862-0506-4F0F-91C4-A4BD6C243C9F}" type="presOf" srcId="{118AA912-4DA9-4C4D-9437-50CC9C3D516A}" destId="{9D2411A7-350B-4AC5-86D8-C7B8CE817B3A}" srcOrd="0" destOrd="0" presId="urn:microsoft.com/office/officeart/2005/8/layout/bProcess4"/>
    <dgm:cxn modelId="{4863E94A-ADC9-4146-B871-8F591EA88013}" srcId="{A4C63FE6-F090-4C79-86B8-00F1C6B52F1E}" destId="{3D9D68EE-C1D4-4611-B443-97687170F7DA}" srcOrd="2" destOrd="0" parTransId="{087DBC35-0C8A-4135-8FE5-C2FFE041BCCB}" sibTransId="{B3D77B74-27A7-48C1-A4F7-6DB5919EA4A9}"/>
    <dgm:cxn modelId="{647EEF4E-5D72-452D-8008-E55A24A45640}" type="presOf" srcId="{3D9D68EE-C1D4-4611-B443-97687170F7DA}" destId="{A25949A4-68BB-41A7-96E3-910A5B256035}" srcOrd="0" destOrd="0" presId="urn:microsoft.com/office/officeart/2005/8/layout/bProcess4"/>
    <dgm:cxn modelId="{76C0D35A-8C38-4DAE-BE72-C774D39E577E}" type="presOf" srcId="{1413EF43-812B-406F-B23E-244F0215DC3E}" destId="{A9E716D1-AB52-41DE-AC51-28F38C4C19F5}" srcOrd="0" destOrd="0" presId="urn:microsoft.com/office/officeart/2005/8/layout/bProcess4"/>
    <dgm:cxn modelId="{F0FF8A82-7E7B-4092-B2A4-96B2E56E2A39}" srcId="{A4C63FE6-F090-4C79-86B8-00F1C6B52F1E}" destId="{F853607A-C9CE-4A32-8FAC-1E237E59A8A4}" srcOrd="0" destOrd="0" parTransId="{97B945AB-9D61-4404-A5D9-9E8DFFFD612E}" sibTransId="{6305A863-2FFF-47B3-97DF-5077D9398916}"/>
    <dgm:cxn modelId="{091C7A83-C50D-45BC-A689-00E48A414C08}" type="presOf" srcId="{A4C63FE6-F090-4C79-86B8-00F1C6B52F1E}" destId="{2556A0C8-9480-4D9E-A5BB-97D1376E4DEA}" srcOrd="0" destOrd="0" presId="urn:microsoft.com/office/officeart/2005/8/layout/bProcess4"/>
    <dgm:cxn modelId="{F581C285-0E53-4533-9707-B5A297D53CFF}" type="presOf" srcId="{3401A147-FFDB-4D38-9679-F2A9DD67CC72}" destId="{969FB987-7067-4976-84C0-D3CDA0807700}" srcOrd="0" destOrd="0" presId="urn:microsoft.com/office/officeart/2005/8/layout/bProcess4"/>
    <dgm:cxn modelId="{7FE1BF99-B633-49AA-B822-A607FC9B8E75}" srcId="{A4C63FE6-F090-4C79-86B8-00F1C6B52F1E}" destId="{3401A147-FFDB-4D38-9679-F2A9DD67CC72}" srcOrd="3" destOrd="0" parTransId="{75B3AD7A-5309-4EE3-9FCA-86D606DE4114}" sibTransId="{DC7F90CA-C3D5-4253-9CC2-264162BA1D96}"/>
    <dgm:cxn modelId="{83B7C6A2-2EE5-4ACF-A243-D5324A225F15}" type="presOf" srcId="{F853607A-C9CE-4A32-8FAC-1E237E59A8A4}" destId="{0744A04A-AC78-44FA-A82D-E39E2F172180}" srcOrd="0" destOrd="0" presId="urn:microsoft.com/office/officeart/2005/8/layout/bProcess4"/>
    <dgm:cxn modelId="{A2244AAB-6E43-47FA-87B2-4C25839FE9B2}" srcId="{A4C63FE6-F090-4C79-86B8-00F1C6B52F1E}" destId="{118AA912-4DA9-4C4D-9437-50CC9C3D516A}" srcOrd="1" destOrd="0" parTransId="{C3A8C996-0EDF-4984-A9CD-61ADC4D3ACE0}" sibTransId="{0B3F3CDE-008B-4A26-B065-2585D88442EF}"/>
    <dgm:cxn modelId="{96F6C0AF-4417-4D8D-A1DB-37514EB69181}" type="presOf" srcId="{DC7F90CA-C3D5-4253-9CC2-264162BA1D96}" destId="{A1678780-F354-4314-A049-9853A1F9EF0D}" srcOrd="0" destOrd="0" presId="urn:microsoft.com/office/officeart/2005/8/layout/bProcess4"/>
    <dgm:cxn modelId="{2020F5BC-977C-40FC-814F-17CC231351B5}" srcId="{A4C63FE6-F090-4C79-86B8-00F1C6B52F1E}" destId="{2342AC3E-02FD-49D8-9F40-790C8D712958}" srcOrd="4" destOrd="0" parTransId="{C332F0CC-1680-4DF4-9C33-F3D6642C842A}" sibTransId="{5F6F01C6-A4BD-466A-9F12-B4C29366CCB6}"/>
    <dgm:cxn modelId="{CADA53DD-A9A6-47D7-B4F8-014B99A1B3D3}" type="presOf" srcId="{DB30E25A-F025-4808-B4DD-4327A4F840BB}" destId="{33538F19-896D-40C0-832A-050D205804B3}" srcOrd="0" destOrd="0" presId="urn:microsoft.com/office/officeart/2005/8/layout/bProcess4"/>
    <dgm:cxn modelId="{453B0CEE-3C5E-4701-AF4E-968BCE8CBA2C}" type="presOf" srcId="{ED5F9E08-DD53-41D8-A775-75950751A7EB}" destId="{D413B5F2-4AEE-4B02-8B07-17ED96A47E7A}" srcOrd="0" destOrd="0" presId="urn:microsoft.com/office/officeart/2005/8/layout/bProcess4"/>
    <dgm:cxn modelId="{5363DEF7-E44A-4401-B559-C916EDE21CFB}" srcId="{A4C63FE6-F090-4C79-86B8-00F1C6B52F1E}" destId="{1413EF43-812B-406F-B23E-244F0215DC3E}" srcOrd="5" destOrd="0" parTransId="{C974E7C5-0C4B-43C7-B3A5-E2A37A7A137B}" sibTransId="{DB30E25A-F025-4808-B4DD-4327A4F840BB}"/>
    <dgm:cxn modelId="{E8C6E8FE-0C32-48F2-99E9-7DF1C0BEABE3}" type="presOf" srcId="{5F6F01C6-A4BD-466A-9F12-B4C29366CCB6}" destId="{18C3DDE0-560C-454F-A3D1-E7548903F536}" srcOrd="0" destOrd="0" presId="urn:microsoft.com/office/officeart/2005/8/layout/bProcess4"/>
    <dgm:cxn modelId="{7C65BD85-8DDB-443A-82D9-A8511FE372BA}" type="presParOf" srcId="{2556A0C8-9480-4D9E-A5BB-97D1376E4DEA}" destId="{3A22387E-F22D-4962-9EE5-5C1ADB43B83B}" srcOrd="0" destOrd="0" presId="urn:microsoft.com/office/officeart/2005/8/layout/bProcess4"/>
    <dgm:cxn modelId="{97EF1460-E870-48BE-BBCC-880085F03C0B}" type="presParOf" srcId="{3A22387E-F22D-4962-9EE5-5C1ADB43B83B}" destId="{E8F78F59-80C7-45C0-8DF8-ECFFD42845FB}" srcOrd="0" destOrd="0" presId="urn:microsoft.com/office/officeart/2005/8/layout/bProcess4"/>
    <dgm:cxn modelId="{4AFB015A-C41A-4307-B894-58F8D0A73F24}" type="presParOf" srcId="{3A22387E-F22D-4962-9EE5-5C1ADB43B83B}" destId="{0744A04A-AC78-44FA-A82D-E39E2F172180}" srcOrd="1" destOrd="0" presId="urn:microsoft.com/office/officeart/2005/8/layout/bProcess4"/>
    <dgm:cxn modelId="{2790220C-B6EE-4CF9-A5F4-1AA36819B614}" type="presParOf" srcId="{2556A0C8-9480-4D9E-A5BB-97D1376E4DEA}" destId="{0ABCBABE-E076-49D0-8393-2C6400A2996B}" srcOrd="1" destOrd="0" presId="urn:microsoft.com/office/officeart/2005/8/layout/bProcess4"/>
    <dgm:cxn modelId="{373816C4-D66C-4EDB-B23A-8BD196DFB140}" type="presParOf" srcId="{2556A0C8-9480-4D9E-A5BB-97D1376E4DEA}" destId="{7AA729C4-6ADE-41B5-9CFD-04F6247E5206}" srcOrd="2" destOrd="0" presId="urn:microsoft.com/office/officeart/2005/8/layout/bProcess4"/>
    <dgm:cxn modelId="{AE7876F4-7FF3-4696-A92E-07624AE84FBC}" type="presParOf" srcId="{7AA729C4-6ADE-41B5-9CFD-04F6247E5206}" destId="{17F846FB-24F8-4066-BAAB-2D3563642024}" srcOrd="0" destOrd="0" presId="urn:microsoft.com/office/officeart/2005/8/layout/bProcess4"/>
    <dgm:cxn modelId="{ACA3F797-8460-43D5-8CC0-C391DD262379}" type="presParOf" srcId="{7AA729C4-6ADE-41B5-9CFD-04F6247E5206}" destId="{9D2411A7-350B-4AC5-86D8-C7B8CE817B3A}" srcOrd="1" destOrd="0" presId="urn:microsoft.com/office/officeart/2005/8/layout/bProcess4"/>
    <dgm:cxn modelId="{619B5C06-2615-4FEA-92F7-6C3CBF910DFF}" type="presParOf" srcId="{2556A0C8-9480-4D9E-A5BB-97D1376E4DEA}" destId="{7E97E8E2-7672-4801-9523-1DCC86AD5D47}" srcOrd="3" destOrd="0" presId="urn:microsoft.com/office/officeart/2005/8/layout/bProcess4"/>
    <dgm:cxn modelId="{6A744617-F626-4829-ADB3-70077BFFE550}" type="presParOf" srcId="{2556A0C8-9480-4D9E-A5BB-97D1376E4DEA}" destId="{4AA68063-5B10-4936-BCA4-8572763CEBC0}" srcOrd="4" destOrd="0" presId="urn:microsoft.com/office/officeart/2005/8/layout/bProcess4"/>
    <dgm:cxn modelId="{701EAD9E-B0D7-4A7C-9B0D-78D1C08F0DD9}" type="presParOf" srcId="{4AA68063-5B10-4936-BCA4-8572763CEBC0}" destId="{FE220A99-342C-4BFE-BF0C-8932CD6952F3}" srcOrd="0" destOrd="0" presId="urn:microsoft.com/office/officeart/2005/8/layout/bProcess4"/>
    <dgm:cxn modelId="{09528D60-B955-402D-8E67-49E332B6F061}" type="presParOf" srcId="{4AA68063-5B10-4936-BCA4-8572763CEBC0}" destId="{A25949A4-68BB-41A7-96E3-910A5B256035}" srcOrd="1" destOrd="0" presId="urn:microsoft.com/office/officeart/2005/8/layout/bProcess4"/>
    <dgm:cxn modelId="{5B7FFB64-56A1-4CF8-988F-E85084184EBA}" type="presParOf" srcId="{2556A0C8-9480-4D9E-A5BB-97D1376E4DEA}" destId="{5EE97CF2-0A8F-4889-94B6-324D8682B0DB}" srcOrd="5" destOrd="0" presId="urn:microsoft.com/office/officeart/2005/8/layout/bProcess4"/>
    <dgm:cxn modelId="{35EF9936-CFB0-4A86-8C63-C4A89F50161F}" type="presParOf" srcId="{2556A0C8-9480-4D9E-A5BB-97D1376E4DEA}" destId="{80E27806-D415-4B7C-B339-8CA48131E263}" srcOrd="6" destOrd="0" presId="urn:microsoft.com/office/officeart/2005/8/layout/bProcess4"/>
    <dgm:cxn modelId="{F999DABC-1024-4BB5-8183-9D556179DD9F}" type="presParOf" srcId="{80E27806-D415-4B7C-B339-8CA48131E263}" destId="{0DD47D47-AE53-4F28-A626-7E0E5FA57959}" srcOrd="0" destOrd="0" presId="urn:microsoft.com/office/officeart/2005/8/layout/bProcess4"/>
    <dgm:cxn modelId="{FF27A672-388F-4514-AEE9-BA201164ABBE}" type="presParOf" srcId="{80E27806-D415-4B7C-B339-8CA48131E263}" destId="{969FB987-7067-4976-84C0-D3CDA0807700}" srcOrd="1" destOrd="0" presId="urn:microsoft.com/office/officeart/2005/8/layout/bProcess4"/>
    <dgm:cxn modelId="{8451B669-D47B-4224-9F2C-72CC4870B10E}" type="presParOf" srcId="{2556A0C8-9480-4D9E-A5BB-97D1376E4DEA}" destId="{A1678780-F354-4314-A049-9853A1F9EF0D}" srcOrd="7" destOrd="0" presId="urn:microsoft.com/office/officeart/2005/8/layout/bProcess4"/>
    <dgm:cxn modelId="{A78E3B6C-344B-4347-AC22-FE39E80A245B}" type="presParOf" srcId="{2556A0C8-9480-4D9E-A5BB-97D1376E4DEA}" destId="{CA4CACC3-BC4F-4312-B420-BE885E0D13E3}" srcOrd="8" destOrd="0" presId="urn:microsoft.com/office/officeart/2005/8/layout/bProcess4"/>
    <dgm:cxn modelId="{82491A53-17D6-4FE9-803C-57923FB59C70}" type="presParOf" srcId="{CA4CACC3-BC4F-4312-B420-BE885E0D13E3}" destId="{3216390D-FD06-446A-A28D-972E463046DA}" srcOrd="0" destOrd="0" presId="urn:microsoft.com/office/officeart/2005/8/layout/bProcess4"/>
    <dgm:cxn modelId="{E754C7FF-A1BC-48DE-93B3-7D5F05C3FD4A}" type="presParOf" srcId="{CA4CACC3-BC4F-4312-B420-BE885E0D13E3}" destId="{6167E559-FBBF-4F87-991B-4C021F134703}" srcOrd="1" destOrd="0" presId="urn:microsoft.com/office/officeart/2005/8/layout/bProcess4"/>
    <dgm:cxn modelId="{A4E805E8-6F22-4531-83FE-06BBA7EB0D8B}" type="presParOf" srcId="{2556A0C8-9480-4D9E-A5BB-97D1376E4DEA}" destId="{18C3DDE0-560C-454F-A3D1-E7548903F536}" srcOrd="9" destOrd="0" presId="urn:microsoft.com/office/officeart/2005/8/layout/bProcess4"/>
    <dgm:cxn modelId="{002914A4-D978-4954-BBBE-F670EA6C84CF}" type="presParOf" srcId="{2556A0C8-9480-4D9E-A5BB-97D1376E4DEA}" destId="{AD60ED3D-AA89-4A77-8837-0C95EB04E7A8}" srcOrd="10" destOrd="0" presId="urn:microsoft.com/office/officeart/2005/8/layout/bProcess4"/>
    <dgm:cxn modelId="{36438D8D-4BB2-4500-A9BB-8A7869DFB021}" type="presParOf" srcId="{AD60ED3D-AA89-4A77-8837-0C95EB04E7A8}" destId="{6ADE7F80-393A-4938-9A2F-F344F91F6071}" srcOrd="0" destOrd="0" presId="urn:microsoft.com/office/officeart/2005/8/layout/bProcess4"/>
    <dgm:cxn modelId="{A60ACA48-CE06-4136-946C-91F7F46D8E18}" type="presParOf" srcId="{AD60ED3D-AA89-4A77-8837-0C95EB04E7A8}" destId="{A9E716D1-AB52-41DE-AC51-28F38C4C19F5}" srcOrd="1" destOrd="0" presId="urn:microsoft.com/office/officeart/2005/8/layout/bProcess4"/>
    <dgm:cxn modelId="{D13B07E6-7451-4C2E-8DD7-64DBBA7737EE}" type="presParOf" srcId="{2556A0C8-9480-4D9E-A5BB-97D1376E4DEA}" destId="{33538F19-896D-40C0-832A-050D205804B3}" srcOrd="11" destOrd="0" presId="urn:microsoft.com/office/officeart/2005/8/layout/bProcess4"/>
    <dgm:cxn modelId="{045349A3-EE03-4D2E-A448-D5BAB72CAA27}" type="presParOf" srcId="{2556A0C8-9480-4D9E-A5BB-97D1376E4DEA}" destId="{EEABB736-6246-4DF7-9F8C-2EF06E7EF47E}" srcOrd="12" destOrd="0" presId="urn:microsoft.com/office/officeart/2005/8/layout/bProcess4"/>
    <dgm:cxn modelId="{7831E699-1E71-41B3-A3C6-1A1BCE391305}" type="presParOf" srcId="{EEABB736-6246-4DF7-9F8C-2EF06E7EF47E}" destId="{13AC75DC-9C6E-4302-90D0-B3257365E549}" srcOrd="0" destOrd="0" presId="urn:microsoft.com/office/officeart/2005/8/layout/bProcess4"/>
    <dgm:cxn modelId="{2400B5C0-F519-4639-B40E-D84AD9A04329}" type="presParOf" srcId="{EEABB736-6246-4DF7-9F8C-2EF06E7EF47E}" destId="{D413B5F2-4AEE-4B02-8B07-17ED96A47E7A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CBABE-E076-49D0-8393-2C6400A2996B}">
      <dsp:nvSpPr>
        <dsp:cNvPr id="0" name=""/>
        <dsp:cNvSpPr/>
      </dsp:nvSpPr>
      <dsp:spPr>
        <a:xfrm rot="5400000">
          <a:off x="-266775" y="1423122"/>
          <a:ext cx="1188223" cy="14376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4A04A-AC78-44FA-A82D-E39E2F172180}">
      <dsp:nvSpPr>
        <dsp:cNvPr id="0" name=""/>
        <dsp:cNvSpPr/>
      </dsp:nvSpPr>
      <dsp:spPr>
        <a:xfrm>
          <a:off x="2943" y="659445"/>
          <a:ext cx="1597399" cy="958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collection</a:t>
          </a:r>
          <a:endParaRPr lang="en-IN" sz="1600" kern="1200" dirty="0"/>
        </a:p>
      </dsp:txBody>
      <dsp:txXfrm>
        <a:off x="31015" y="687517"/>
        <a:ext cx="1541255" cy="902295"/>
      </dsp:txXfrm>
    </dsp:sp>
    <dsp:sp modelId="{7E97E8E2-7672-4801-9523-1DCC86AD5D47}">
      <dsp:nvSpPr>
        <dsp:cNvPr id="0" name=""/>
        <dsp:cNvSpPr/>
      </dsp:nvSpPr>
      <dsp:spPr>
        <a:xfrm rot="5400000">
          <a:off x="-266775" y="2621171"/>
          <a:ext cx="1188223" cy="14376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411A7-350B-4AC5-86D8-C7B8CE817B3A}">
      <dsp:nvSpPr>
        <dsp:cNvPr id="0" name=""/>
        <dsp:cNvSpPr/>
      </dsp:nvSpPr>
      <dsp:spPr>
        <a:xfrm>
          <a:off x="2943" y="1857494"/>
          <a:ext cx="1597399" cy="958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segmentation</a:t>
          </a:r>
          <a:endParaRPr lang="en-IN" sz="1600" kern="1200" dirty="0"/>
        </a:p>
      </dsp:txBody>
      <dsp:txXfrm>
        <a:off x="31015" y="1885566"/>
        <a:ext cx="1541255" cy="902295"/>
      </dsp:txXfrm>
    </dsp:sp>
    <dsp:sp modelId="{5EE97CF2-0A8F-4889-94B6-324D8682B0DB}">
      <dsp:nvSpPr>
        <dsp:cNvPr id="0" name=""/>
        <dsp:cNvSpPr/>
      </dsp:nvSpPr>
      <dsp:spPr>
        <a:xfrm>
          <a:off x="332249" y="3220196"/>
          <a:ext cx="2114714" cy="14376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949A4-68BB-41A7-96E3-910A5B256035}">
      <dsp:nvSpPr>
        <dsp:cNvPr id="0" name=""/>
        <dsp:cNvSpPr/>
      </dsp:nvSpPr>
      <dsp:spPr>
        <a:xfrm>
          <a:off x="2943" y="3055543"/>
          <a:ext cx="1597399" cy="958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Augmentation</a:t>
          </a:r>
          <a:endParaRPr lang="en-IN" sz="1600" kern="1200" dirty="0"/>
        </a:p>
      </dsp:txBody>
      <dsp:txXfrm>
        <a:off x="31015" y="3083615"/>
        <a:ext cx="1541255" cy="902295"/>
      </dsp:txXfrm>
    </dsp:sp>
    <dsp:sp modelId="{A1678780-F354-4314-A049-9853A1F9EF0D}">
      <dsp:nvSpPr>
        <dsp:cNvPr id="0" name=""/>
        <dsp:cNvSpPr/>
      </dsp:nvSpPr>
      <dsp:spPr>
        <a:xfrm rot="16200000">
          <a:off x="1857765" y="2621171"/>
          <a:ext cx="1188223" cy="14376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FB987-7067-4976-84C0-D3CDA0807700}">
      <dsp:nvSpPr>
        <dsp:cNvPr id="0" name=""/>
        <dsp:cNvSpPr/>
      </dsp:nvSpPr>
      <dsp:spPr>
        <a:xfrm>
          <a:off x="2127483" y="3055543"/>
          <a:ext cx="1597399" cy="958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building</a:t>
          </a:r>
          <a:endParaRPr lang="en-IN" sz="1600" kern="1200" dirty="0"/>
        </a:p>
      </dsp:txBody>
      <dsp:txXfrm>
        <a:off x="2155555" y="3083615"/>
        <a:ext cx="1541255" cy="902295"/>
      </dsp:txXfrm>
    </dsp:sp>
    <dsp:sp modelId="{18C3DDE0-560C-454F-A3D1-E7548903F536}">
      <dsp:nvSpPr>
        <dsp:cNvPr id="0" name=""/>
        <dsp:cNvSpPr/>
      </dsp:nvSpPr>
      <dsp:spPr>
        <a:xfrm rot="16200000">
          <a:off x="1857765" y="1423122"/>
          <a:ext cx="1188223" cy="14376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7E559-FBBF-4F87-991B-4C021F134703}">
      <dsp:nvSpPr>
        <dsp:cNvPr id="0" name=""/>
        <dsp:cNvSpPr/>
      </dsp:nvSpPr>
      <dsp:spPr>
        <a:xfrm>
          <a:off x="2127483" y="1857494"/>
          <a:ext cx="1597399" cy="958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splitting</a:t>
          </a:r>
          <a:endParaRPr lang="en-IN" sz="1600" kern="1200" dirty="0"/>
        </a:p>
      </dsp:txBody>
      <dsp:txXfrm>
        <a:off x="2155555" y="1885566"/>
        <a:ext cx="1541255" cy="902295"/>
      </dsp:txXfrm>
    </dsp:sp>
    <dsp:sp modelId="{33538F19-896D-40C0-832A-050D205804B3}">
      <dsp:nvSpPr>
        <dsp:cNvPr id="0" name=""/>
        <dsp:cNvSpPr/>
      </dsp:nvSpPr>
      <dsp:spPr>
        <a:xfrm>
          <a:off x="2456789" y="824098"/>
          <a:ext cx="2114714" cy="143765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716D1-AB52-41DE-AC51-28F38C4C19F5}">
      <dsp:nvSpPr>
        <dsp:cNvPr id="0" name=""/>
        <dsp:cNvSpPr/>
      </dsp:nvSpPr>
      <dsp:spPr>
        <a:xfrm>
          <a:off x="2127483" y="659445"/>
          <a:ext cx="1597399" cy="958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evaluation</a:t>
          </a:r>
          <a:endParaRPr lang="en-IN" sz="1600" kern="1200" dirty="0"/>
        </a:p>
      </dsp:txBody>
      <dsp:txXfrm>
        <a:off x="2155555" y="687517"/>
        <a:ext cx="1541255" cy="902295"/>
      </dsp:txXfrm>
    </dsp:sp>
    <dsp:sp modelId="{D413B5F2-4AEE-4B02-8B07-17ED96A47E7A}">
      <dsp:nvSpPr>
        <dsp:cNvPr id="0" name=""/>
        <dsp:cNvSpPr/>
      </dsp:nvSpPr>
      <dsp:spPr>
        <a:xfrm>
          <a:off x="4252024" y="659445"/>
          <a:ext cx="1597399" cy="9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Explainable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AI</a:t>
          </a:r>
          <a:endParaRPr lang="en-IN" sz="2100" kern="1200" dirty="0"/>
        </a:p>
      </dsp:txBody>
      <dsp:txXfrm>
        <a:off x="4298811" y="706232"/>
        <a:ext cx="1503825" cy="8648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212DC-63B1-4901-BBA1-0E9BAC33D41C}" type="datetimeFigureOut">
              <a:rPr lang="en-IN" smtClean="0"/>
              <a:t>10-09-2025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F3EA8-841E-473D-8AEC-E28FC8B0AF5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F3EA8-841E-473D-8AEC-E28FC8B0AF5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718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4BBED-9D3F-4E8C-A31D-76A22EE88FEB}" type="datetime1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5E127-F269-4258-80A4-1372D3C00E8F}" type="datetime1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6EAF1-28FB-47DB-A52B-7DD7F4094843}" type="datetime1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12493-AA25-487D-8635-16C3A88B4A31}" type="datetime1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DECB-9A6B-47E9-8A6F-D77F03DD63AE}" type="datetime1">
              <a:rPr lang="en-IN" smtClean="0"/>
              <a:t>10-09-2025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391F4-8B9E-488E-9E09-6D97621EC7E8}" type="datetime1">
              <a:rPr lang="en-IN" smtClean="0"/>
              <a:t>10-09-2025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56ECC-4156-47B9-B6C5-A7C7632DDAB1}" type="datetime1">
              <a:rPr lang="en-IN" smtClean="0"/>
              <a:t>10-09-2025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CA7FB-8CAD-4526-8C8B-7EC5B1C9A4A6}" type="datetime1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2C8DB-8A26-4D7B-863F-CF0724AEE9FE}" type="datetime1">
              <a:rPr lang="en-IN" smtClean="0"/>
              <a:t>10-09-2025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F3A-537D-4782-93FF-26FDB1360200}" type="datetime1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3CAB0-2917-41E3-BC62-F04238BDCF53}" type="datetime1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9D414-CE7D-46FB-9603-64E2DC9BB488}" type="datetime1">
              <a:rPr lang="en-IN" smtClean="0"/>
              <a:t>10-09-2025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______, SVIT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020A1-FA28-4834-83A8-C0CE35CB166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2" y="690637"/>
            <a:ext cx="12192000" cy="913827"/>
          </a:xfrm>
        </p:spPr>
        <p:txBody>
          <a:bodyPr>
            <a:normAutofit/>
          </a:bodyPr>
          <a:lstStyle/>
          <a:p>
            <a:r>
              <a:rPr lang="en-US" altLang="en-IN" sz="4400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rgbClr val="C00000"/>
                </a:solidFill>
              </a:rPr>
              <a:t>RAJARAJESWARI COLLEGE OF ENGINNERING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8" y="1571090"/>
            <a:ext cx="9144000" cy="461499"/>
          </a:xfrm>
        </p:spPr>
        <p:txBody>
          <a:bodyPr>
            <a:normAutofit/>
          </a:bodyPr>
          <a:lstStyle/>
          <a:p>
            <a:r>
              <a:rPr lang="en-US" altLang="en-IN" b="1" dirty="0"/>
              <a:t>Kumbalgodu Bengaluru-560074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95977" y="3429000"/>
            <a:ext cx="74000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</a:rPr>
              <a:t>Project Phase -</a:t>
            </a:r>
            <a:r>
              <a:rPr lang="en-US" sz="2400" b="1" dirty="0">
                <a:solidFill>
                  <a:srgbClr val="002060"/>
                </a:solidFill>
              </a:rPr>
              <a:t>1</a:t>
            </a:r>
            <a:r>
              <a:rPr lang="en-IN" sz="2400" b="1" dirty="0">
                <a:solidFill>
                  <a:srgbClr val="002060"/>
                </a:solidFill>
              </a:rPr>
              <a:t> Presentation</a:t>
            </a:r>
            <a:r>
              <a:rPr lang="en-US" altLang="en-IN" sz="2400" b="1" dirty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altLang="en-IN" sz="2400" b="1" dirty="0">
                <a:solidFill>
                  <a:srgbClr val="002060"/>
                </a:solidFill>
              </a:rPr>
              <a:t>on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US" sz="2000" b="1" dirty="0"/>
              <a:t>Real-Time Detection of Forest Fires Using </a:t>
            </a:r>
            <a:r>
              <a:rPr lang="en-US" sz="2000" b="1" dirty="0" err="1"/>
              <a:t>FireNet</a:t>
            </a:r>
            <a:r>
              <a:rPr lang="en-US" sz="2000" b="1" dirty="0"/>
              <a:t>-CNN and Explainable AI Techniques</a:t>
            </a:r>
            <a:endParaRPr lang="en-US" altLang="en-IN" sz="2000" b="1" dirty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8536" y="4642009"/>
            <a:ext cx="45060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By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V S VIGHNESH    1RR23AI060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S V VISHAL          1RR23AI061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RAMCHARAN S  1RR24AI406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endParaRPr lang="en-IN" sz="2400" b="1" dirty="0">
              <a:solidFill>
                <a:srgbClr val="002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4465" y="4894291"/>
            <a:ext cx="41477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2060"/>
                </a:solidFill>
              </a:rPr>
              <a:t>Under the guidance of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Prof DEEPA K R</a:t>
            </a:r>
          </a:p>
          <a:p>
            <a:pPr algn="ctr"/>
            <a:r>
              <a:rPr lang="en-IN" sz="2400" b="1" dirty="0">
                <a:solidFill>
                  <a:srgbClr val="002060"/>
                </a:solidFill>
                <a:sym typeface="+mn-ea"/>
              </a:rPr>
              <a:t>Assistant Professor</a:t>
            </a:r>
            <a:endParaRPr lang="en-IN" sz="2400" b="1" dirty="0">
              <a:solidFill>
                <a:srgbClr val="002060"/>
              </a:solidFill>
            </a:endParaRPr>
          </a:p>
          <a:p>
            <a:pPr algn="ctr"/>
            <a:r>
              <a:rPr lang="en-IN" sz="2400" b="1" dirty="0">
                <a:solidFill>
                  <a:srgbClr val="002060"/>
                </a:solidFill>
              </a:rPr>
              <a:t>Dept of AIML</a:t>
            </a:r>
          </a:p>
        </p:txBody>
      </p:sp>
      <p:pic>
        <p:nvPicPr>
          <p:cNvPr id="100" name="Picture 99"/>
          <p:cNvPicPr/>
          <p:nvPr/>
        </p:nvPicPr>
        <p:blipFill>
          <a:blip r:embed="rId2"/>
          <a:stretch>
            <a:fillRect/>
          </a:stretch>
        </p:blipFill>
        <p:spPr>
          <a:xfrm>
            <a:off x="5185408" y="1913404"/>
            <a:ext cx="1821180" cy="15500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7"/>
          <p:cNvSpPr txBox="1"/>
          <p:nvPr/>
        </p:nvSpPr>
        <p:spPr>
          <a:xfrm>
            <a:off x="1" y="0"/>
            <a:ext cx="12191999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2060"/>
                </a:solidFill>
              </a:rPr>
              <a:t>Department of </a:t>
            </a:r>
            <a:r>
              <a:rPr lang="en-US" altLang="en-IN" sz="3200" b="1" dirty="0">
                <a:solidFill>
                  <a:srgbClr val="002060"/>
                </a:solidFill>
              </a:rPr>
              <a:t>Artificial Intelligence and Machine Learning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35"/>
            <a:ext cx="10530205" cy="1040765"/>
          </a:xfrm>
          <a:solidFill>
            <a:srgbClr val="002060"/>
          </a:solidFill>
        </p:spPr>
        <p:txBody>
          <a:bodyPr>
            <a:normAutofit/>
          </a:bodyPr>
          <a:lstStyle/>
          <a:p>
            <a:r>
              <a:rPr lang="en-IN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sym typeface="+mn-ea"/>
              </a:rPr>
              <a:t>Presentation Outline</a:t>
            </a:r>
            <a:endParaRPr lang="en-US" altLang="en-IN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916805"/>
          </a:xfrm>
        </p:spPr>
        <p:txBody>
          <a:bodyPr>
            <a:normAutofit fontScale="97500" lnSpcReduction="10000"/>
          </a:bodyPr>
          <a:lstStyle/>
          <a:p>
            <a:r>
              <a:rPr lang="en-US" altLang="en-IN" dirty="0">
                <a:sym typeface="+mn-ea"/>
              </a:rPr>
              <a:t>Abstract</a:t>
            </a:r>
            <a:endParaRPr lang="en-IN" dirty="0"/>
          </a:p>
          <a:p>
            <a:r>
              <a:rPr lang="en-IN" dirty="0">
                <a:sym typeface="+mn-ea"/>
              </a:rPr>
              <a:t>Introduction </a:t>
            </a:r>
            <a:endParaRPr lang="en-IN" dirty="0"/>
          </a:p>
          <a:p>
            <a:r>
              <a:rPr lang="en-US" altLang="en-IN" dirty="0">
                <a:sym typeface="+mn-ea"/>
              </a:rPr>
              <a:t>Objectives</a:t>
            </a:r>
            <a:endParaRPr lang="en-IN" dirty="0"/>
          </a:p>
          <a:p>
            <a:r>
              <a:rPr lang="en-IN" dirty="0">
                <a:sym typeface="+mn-ea"/>
              </a:rPr>
              <a:t>Problem Statement  </a:t>
            </a:r>
          </a:p>
          <a:p>
            <a:r>
              <a:rPr lang="en-US" altLang="en-IN" dirty="0">
                <a:sym typeface="+mn-ea"/>
              </a:rPr>
              <a:t>Existing System and Literature survey</a:t>
            </a:r>
            <a:endParaRPr lang="en-IN" dirty="0"/>
          </a:p>
          <a:p>
            <a:r>
              <a:rPr lang="en-IN" dirty="0">
                <a:sym typeface="+mn-ea"/>
              </a:rPr>
              <a:t>System Design </a:t>
            </a:r>
          </a:p>
          <a:p>
            <a:r>
              <a:rPr lang="en-IN" dirty="0">
                <a:sym typeface="+mn-ea"/>
              </a:rPr>
              <a:t>Project Modules</a:t>
            </a:r>
            <a:endParaRPr lang="en-IN" dirty="0"/>
          </a:p>
          <a:p>
            <a:r>
              <a:rPr lang="en-IN" dirty="0">
                <a:sym typeface="+mn-ea"/>
              </a:rPr>
              <a:t>Implementation</a:t>
            </a:r>
            <a:endParaRPr lang="en-IN" dirty="0"/>
          </a:p>
          <a:p>
            <a:r>
              <a:rPr lang="en-IN" dirty="0">
                <a:sym typeface="+mn-ea"/>
              </a:rPr>
              <a:t>Conclusion </a:t>
            </a:r>
          </a:p>
          <a:p>
            <a:r>
              <a:rPr lang="en-IN" dirty="0">
                <a:sym typeface="+mn-ea"/>
              </a:rPr>
              <a:t>References</a:t>
            </a:r>
            <a:endParaRPr lang="en-IN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2</a:t>
            </a:fld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</a:t>
            </a: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0B3166D1-D362-509C-CD12-8CF9AAF2A037}"/>
              </a:ext>
            </a:extLst>
          </p:cNvPr>
          <p:cNvGrpSpPr/>
          <p:nvPr/>
        </p:nvGrpSpPr>
        <p:grpSpPr>
          <a:xfrm>
            <a:off x="-24880" y="1020664"/>
            <a:ext cx="12216880" cy="5057394"/>
            <a:chOff x="-24880" y="1040130"/>
            <a:chExt cx="12216880" cy="5057394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AABF9DB-5320-72B2-A7D5-A915F989132E}"/>
                </a:ext>
              </a:extLst>
            </p:cNvPr>
            <p:cNvSpPr txBox="1"/>
            <p:nvPr/>
          </p:nvSpPr>
          <p:spPr>
            <a:xfrm>
              <a:off x="0" y="1040130"/>
              <a:ext cx="12069445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US" b="1" dirty="0"/>
            </a:p>
            <a:p>
              <a:pPr algn="just"/>
              <a:endParaRPr lang="en-US" b="1" dirty="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endParaRPr lang="en-US" b="1" dirty="0"/>
            </a:p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 Introduction to </a:t>
              </a:r>
              <a:r>
                <a:rPr lang="en-US" b="1" dirty="0" err="1"/>
                <a:t>FireNet</a:t>
              </a:r>
              <a:r>
                <a:rPr lang="en-US" b="1" dirty="0"/>
                <a:t> - CNN :</a:t>
              </a:r>
            </a:p>
            <a:p>
              <a:pPr algn="just"/>
              <a:r>
                <a:rPr lang="en-US" dirty="0"/>
                <a:t> A deep-learning model designed for </a:t>
              </a:r>
              <a:r>
                <a:rPr lang="en-US" b="1" dirty="0"/>
                <a:t>forest fire detection</a:t>
              </a:r>
              <a:r>
                <a:rPr lang="en-US" dirty="0"/>
                <a:t>, surpassing existing methods in </a:t>
              </a:r>
              <a:r>
                <a:rPr lang="en-US" b="1" dirty="0"/>
                <a:t>reliability, efficiency, and                                     Interpretability </a:t>
              </a:r>
              <a:r>
                <a:rPr lang="en-US" dirty="0"/>
                <a:t>compared to VGG16, VGG19, and Inception V3.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B00B68C-4A10-0160-E155-81C00CBD4095}"/>
                </a:ext>
              </a:extLst>
            </p:cNvPr>
            <p:cNvSpPr txBox="1"/>
            <p:nvPr/>
          </p:nvSpPr>
          <p:spPr>
            <a:xfrm>
              <a:off x="0" y="1864923"/>
              <a:ext cx="120694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D63E5FA-6535-873B-E6C1-65BFD4D139E9}"/>
                </a:ext>
              </a:extLst>
            </p:cNvPr>
            <p:cNvSpPr txBox="1"/>
            <p:nvPr/>
          </p:nvSpPr>
          <p:spPr>
            <a:xfrm>
              <a:off x="0" y="2703282"/>
              <a:ext cx="1206944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Dataset and Augmentation :</a:t>
              </a:r>
            </a:p>
            <a:p>
              <a:pPr algn="just">
                <a:buNone/>
              </a:pPr>
              <a:r>
                <a:rPr lang="en-US" dirty="0"/>
                <a:t>Trained on </a:t>
              </a:r>
              <a:r>
                <a:rPr lang="en-US" b="1" dirty="0"/>
                <a:t>Dataset A and B</a:t>
              </a:r>
              <a:r>
                <a:rPr lang="en-US" dirty="0"/>
                <a:t> with fire and non-fire images, enhanced using </a:t>
              </a:r>
              <a:r>
                <a:rPr lang="en-US" b="1" dirty="0"/>
                <a:t>Stable Diffusion-based synthetic data augmentation</a:t>
              </a:r>
              <a:r>
                <a:rPr lang="en-US" dirty="0"/>
                <a:t> to address limited data and class imbalance.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239248B-AE1C-D29C-6011-307886A438F6}"/>
                </a:ext>
              </a:extLst>
            </p:cNvPr>
            <p:cNvSpPr txBox="1"/>
            <p:nvPr/>
          </p:nvSpPr>
          <p:spPr>
            <a:xfrm>
              <a:off x="-2" y="3528075"/>
              <a:ext cx="1206944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 Optimized Model Architecture :</a:t>
              </a:r>
            </a:p>
            <a:p>
              <a:pPr algn="just">
                <a:buNone/>
              </a:pPr>
              <a:r>
                <a:rPr lang="en-US" dirty="0"/>
                <a:t>Lightweight design with </a:t>
              </a:r>
              <a:r>
                <a:rPr lang="en-US" b="1" dirty="0"/>
                <a:t>2.75M parameters</a:t>
              </a:r>
              <a:r>
                <a:rPr lang="en-US" dirty="0"/>
                <a:t> and </a:t>
              </a:r>
              <a:r>
                <a:rPr lang="en-US" b="1" dirty="0"/>
                <a:t>10.58 MB size</a:t>
              </a:r>
              <a:r>
                <a:rPr lang="en-US" dirty="0"/>
                <a:t>, ensuring efficient fire detection with an inference time of </a:t>
              </a:r>
              <a:r>
                <a:rPr lang="en-US" b="1" dirty="0"/>
                <a:t>0.95 sec/image</a:t>
              </a:r>
              <a:r>
                <a:rPr lang="en-US" dirty="0"/>
                <a:t> for real-time deployment.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B95137D-4C2D-347A-F9FA-04F567FC3CBA}"/>
                </a:ext>
              </a:extLst>
            </p:cNvPr>
            <p:cNvSpPr txBox="1"/>
            <p:nvPr/>
          </p:nvSpPr>
          <p:spPr>
            <a:xfrm>
              <a:off x="-24880" y="4366434"/>
              <a:ext cx="1221688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 Real-Time Applications :</a:t>
              </a:r>
            </a:p>
            <a:p>
              <a:pPr algn="just">
                <a:buNone/>
              </a:pPr>
              <a:r>
                <a:rPr lang="en-US" dirty="0"/>
                <a:t>Well-suited for </a:t>
              </a:r>
              <a:r>
                <a:rPr lang="en-US" b="1" dirty="0"/>
                <a:t>resource-constrained platforms</a:t>
              </a:r>
              <a:r>
                <a:rPr lang="en-US" dirty="0"/>
                <a:t> like drones, remote sensors, and embedded systems, enabling early wildfire detection in wooded regions.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981AE5A-80FD-00FE-70FE-8F44AFF30100}"/>
                </a:ext>
              </a:extLst>
            </p:cNvPr>
            <p:cNvSpPr txBox="1"/>
            <p:nvPr/>
          </p:nvSpPr>
          <p:spPr>
            <a:xfrm>
              <a:off x="0" y="5174194"/>
              <a:ext cx="1219200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just">
                <a:buFont typeface="Arial" panose="020B0604020202020204" pitchFamily="34" charset="0"/>
                <a:buChar char="•"/>
              </a:pPr>
              <a:r>
                <a:rPr lang="en-US" b="1" dirty="0"/>
                <a:t> Explainability and Future Scope :</a:t>
              </a:r>
            </a:p>
            <a:p>
              <a:pPr algn="just">
                <a:buNone/>
              </a:pPr>
              <a:r>
                <a:rPr lang="en-US" dirty="0"/>
                <a:t>Incorporates </a:t>
              </a:r>
              <a:r>
                <a:rPr lang="en-US" b="1" dirty="0"/>
                <a:t>XAI methods (Grad-CAM &amp; Saliency Maps)</a:t>
              </a:r>
              <a:r>
                <a:rPr lang="en-US" dirty="0"/>
                <a:t> to enhance trust in safety-critical applications; despite challenges with synthetic data and imbalance, shows </a:t>
              </a:r>
              <a:r>
                <a:rPr lang="en-US" b="1" dirty="0"/>
                <a:t>strong potential for wildfire management and disaster response</a:t>
              </a:r>
              <a:r>
                <a:rPr lang="en-US" dirty="0"/>
                <a:t>.</a:t>
              </a:r>
            </a:p>
          </p:txBody>
        </p:sp>
      </p:grpSp>
      <p:sp>
        <p:nvSpPr>
          <p:cNvPr id="4" name="Title 1"/>
          <p:cNvSpPr>
            <a:spLocks noGrp="1"/>
          </p:cNvSpPr>
          <p:nvPr/>
        </p:nvSpPr>
        <p:spPr>
          <a:xfrm>
            <a:off x="0" y="-20101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ABSTRACT</a:t>
            </a:r>
            <a:endParaRPr lang="en-IN" sz="36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6524526"/>
            <a:ext cx="12192000" cy="36933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                                                                                                                                                                                     3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</a:t>
            </a: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631800" y="13061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98EC-95A4-809D-6ABA-3C160CC90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D4CD8C0-E9CD-319F-E208-C0035C1287A3}"/>
              </a:ext>
            </a:extLst>
          </p:cNvPr>
          <p:cNvSpPr>
            <a:spLocks noGrp="1"/>
          </p:cNvSpPr>
          <p:nvPr/>
        </p:nvSpPr>
        <p:spPr>
          <a:xfrm>
            <a:off x="0" y="-635"/>
            <a:ext cx="10530205" cy="10153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INTRODUCTION</a:t>
            </a:r>
            <a:endParaRPr lang="en-IN" sz="36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5984D16-319F-34CE-24D2-E3A86F6D7D98}"/>
              </a:ext>
            </a:extLst>
          </p:cNvPr>
          <p:cNvSpPr txBox="1"/>
          <p:nvPr/>
        </p:nvSpPr>
        <p:spPr>
          <a:xfrm>
            <a:off x="0" y="6538595"/>
            <a:ext cx="12192000" cy="35941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no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4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89B9216-6E13-1CE0-04E8-5F855899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4730"/>
            <a:ext cx="12192000" cy="552386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   Wildfires cause </a:t>
            </a:r>
            <a:r>
              <a:rPr lang="en-US" sz="1800" b="1" dirty="0"/>
              <a:t>severe ecological, economic, and health damages</a:t>
            </a:r>
            <a:r>
              <a:rPr lang="en-US" sz="1800" dirty="0"/>
              <a:t>, leading to biodiversity loss, increased CO₂ emissions, and         threats to human populations. Forests are vital for </a:t>
            </a:r>
            <a:r>
              <a:rPr lang="en-US" sz="1800" b="1" dirty="0"/>
              <a:t>climate regulation, biodiversity, and ecosystem services</a:t>
            </a:r>
            <a:r>
              <a:rPr lang="en-US" sz="1800" dirty="0"/>
              <a:t> (air purification, water filtration, timber, medicine), but rising wildfire frequency disrupts these functions.</a:t>
            </a:r>
          </a:p>
          <a:p>
            <a:r>
              <a:rPr lang="en-US" sz="1800" b="1" dirty="0"/>
              <a:t>Causes and Consequences :</a:t>
            </a:r>
          </a:p>
          <a:p>
            <a:pPr marL="0" indent="0">
              <a:buNone/>
            </a:pPr>
            <a:r>
              <a:rPr lang="en-US" sz="1800" dirty="0"/>
              <a:t>Both </a:t>
            </a:r>
            <a:r>
              <a:rPr lang="en-US" sz="1800" b="1" dirty="0"/>
              <a:t>natural (lightning, volcanoes)</a:t>
            </a:r>
            <a:r>
              <a:rPr lang="en-US" sz="1800" dirty="0"/>
              <a:t> and </a:t>
            </a:r>
            <a:r>
              <a:rPr lang="en-US" sz="1800" b="1" dirty="0"/>
              <a:t>human-induced (agriculture, negligence)</a:t>
            </a:r>
            <a:r>
              <a:rPr lang="en-US" sz="1800" dirty="0"/>
              <a:t> fires contribute to air pollution, health risks, and large-scale economic losses (e.g., Maui fires, 2023).</a:t>
            </a:r>
          </a:p>
          <a:p>
            <a:r>
              <a:rPr lang="en-US" sz="1800" b="1" dirty="0"/>
              <a:t>Limitations of Traditional Detection :</a:t>
            </a:r>
          </a:p>
          <a:p>
            <a:pPr marL="0" indent="0">
              <a:buNone/>
            </a:pPr>
            <a:r>
              <a:rPr lang="en-US" sz="1800" dirty="0"/>
              <a:t>Conventional methods like </a:t>
            </a:r>
            <a:r>
              <a:rPr lang="en-US" sz="1800" b="1" dirty="0"/>
              <a:t>satellite imagery and ground sensors</a:t>
            </a:r>
            <a:r>
              <a:rPr lang="en-US" sz="1800" dirty="0"/>
              <a:t> face </a:t>
            </a:r>
            <a:r>
              <a:rPr lang="en-US" sz="1800" b="1" dirty="0"/>
              <a:t>delays, low accuracy, and limited coverage</a:t>
            </a:r>
            <a:r>
              <a:rPr lang="en-US" sz="1800" dirty="0"/>
              <a:t>, making early intervention difficult.</a:t>
            </a:r>
          </a:p>
          <a:p>
            <a:r>
              <a:rPr lang="en-US" sz="1800" b="1" dirty="0"/>
              <a:t>Role of Deep Learning :</a:t>
            </a:r>
          </a:p>
          <a:p>
            <a:pPr marL="0" indent="0">
              <a:buNone/>
            </a:pPr>
            <a:r>
              <a:rPr lang="en-US" sz="1800" dirty="0"/>
              <a:t>CNN-based models enable </a:t>
            </a:r>
            <a:r>
              <a:rPr lang="en-US" sz="1800" b="1" dirty="0"/>
              <a:t>automated, real-time fire detection</a:t>
            </a:r>
            <a:r>
              <a:rPr lang="en-US" sz="1800" dirty="0"/>
              <a:t> adaptable to complex environments. However, challenges remain with </a:t>
            </a:r>
            <a:r>
              <a:rPr lang="en-US" sz="1800" b="1" dirty="0"/>
              <a:t>data scarcity, interpretability, and high computational cost</a:t>
            </a:r>
            <a:r>
              <a:rPr lang="en-US" sz="1800" dirty="0"/>
              <a:t>.</a:t>
            </a:r>
          </a:p>
          <a:p>
            <a:r>
              <a:rPr lang="en-US" sz="1800" b="1" dirty="0"/>
              <a:t>Proposed Solution :</a:t>
            </a:r>
          </a:p>
          <a:p>
            <a:pPr marL="0" indent="0">
              <a:buNone/>
            </a:pPr>
            <a:r>
              <a:rPr lang="en-US" sz="1800" dirty="0"/>
              <a:t>This study develops a </a:t>
            </a:r>
            <a:r>
              <a:rPr lang="en-US" sz="1800" b="1" dirty="0"/>
              <a:t>custom CNN with XAI techniques (Grad-CAM, Saliency Maps)</a:t>
            </a:r>
            <a:r>
              <a:rPr lang="en-US" sz="1800" dirty="0"/>
              <a:t> and </a:t>
            </a:r>
            <a:r>
              <a:rPr lang="en-US" sz="1800" b="1" dirty="0"/>
              <a:t>synthetic data from diffusion models</a:t>
            </a:r>
            <a:r>
              <a:rPr lang="en-US" sz="1800" dirty="0"/>
              <a:t> to improve detection accuracy, transparency, and robustness.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</p:txBody>
      </p:sp>
      <p:pic>
        <p:nvPicPr>
          <p:cNvPr id="101" name="Content Placeholder 100">
            <a:extLst>
              <a:ext uri="{FF2B5EF4-FFF2-40B4-BE49-F238E27FC236}">
                <a16:creationId xmlns:a16="http://schemas.microsoft.com/office/drawing/2014/main" id="{AA7A648B-C83A-DF33-EE23-3A9C159F0CB8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10753725" y="0"/>
            <a:ext cx="1438275" cy="112712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79968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OBJECTIVES</a:t>
            </a:r>
            <a:endParaRPr lang="en-IN" sz="36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5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20E6023-5080-4126-8E50-EDFB7C4260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77" y="1527363"/>
            <a:ext cx="1206944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Expand Real-World Testing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Validate model across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different forest types, seasons, and smoke conditions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improve adaptability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Better Data Handling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oversampling,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undersampling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or custom loss functions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fix class imbalance and improve sensitivity.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More Realistic Augmentation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Employ advanced augmentation methods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image-to-image translation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generating diverse and realistic fire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Domain Adaptation &amp; Transfer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Adapt the model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environments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without retraining from scratch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Further Model Optimization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Apply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pruning, quantization, or knowledge distillation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make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FireNet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-CNN even lighter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IoT and mobile 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/>
              <a:t>Hazard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Prediction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– Extend the system beyond fire to detect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smoke</a:t>
            </a:r>
            <a:r>
              <a:rPr lang="en-US" altLang="en-US" sz="1800" b="1" dirty="0"/>
              <a:t>, predict the surrounding area which likely to catch fire and find its 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making it more versatile for disaster management 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A237B-ABFE-68BC-D791-57146B38B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C5BF30-5710-29C9-0303-534069428CF6}"/>
              </a:ext>
            </a:extLst>
          </p:cNvPr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PROBLEM STATEMENT</a:t>
            </a:r>
            <a:endParaRPr lang="en-IN" sz="36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7C778F-59E6-0F06-8352-6D7701E6D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189" y="2010275"/>
            <a:ext cx="12023725" cy="3812268"/>
          </a:xfrm>
        </p:spPr>
        <p:txBody>
          <a:bodyPr>
            <a:normAutofit/>
          </a:bodyPr>
          <a:lstStyle/>
          <a:p>
            <a:r>
              <a:rPr lang="en-US" sz="1800" b="1" dirty="0"/>
              <a:t>Reliance on Synthetic Data</a:t>
            </a:r>
            <a:r>
              <a:rPr lang="en-US" sz="1800" dirty="0"/>
              <a:t> – The model depends heavily on diffusion-generated synthetic images, which may not always capture the complexity of real wildfire conditions (e.g., smoke, obstructions, different forest types) .</a:t>
            </a:r>
          </a:p>
          <a:p>
            <a:r>
              <a:rPr lang="en-US" sz="1800" b="1" dirty="0"/>
              <a:t>Class Imbalance</a:t>
            </a:r>
            <a:r>
              <a:rPr lang="en-US" sz="1800" dirty="0"/>
              <a:t> – Datasets used have more of one class (fire/non-fire), which can bias the model toward dominant classes and reduce sensitivity .</a:t>
            </a:r>
          </a:p>
          <a:p>
            <a:r>
              <a:rPr lang="en-US" sz="1800" b="1" dirty="0"/>
              <a:t>Generalization Issues</a:t>
            </a:r>
            <a:r>
              <a:rPr lang="en-US" sz="1800" dirty="0"/>
              <a:t> – Performance is strong on test datasets but still needs validation in </a:t>
            </a:r>
            <a:r>
              <a:rPr lang="en-US" sz="1800" b="1" dirty="0"/>
              <a:t>diverse, real-world environments</a:t>
            </a:r>
            <a:r>
              <a:rPr lang="en-US" sz="1800" dirty="0"/>
              <a:t> (different terrains, lighting, weather) .</a:t>
            </a:r>
          </a:p>
          <a:p>
            <a:r>
              <a:rPr lang="en-US" sz="1800" b="1" dirty="0"/>
              <a:t>Computational Constraints</a:t>
            </a:r>
            <a:r>
              <a:rPr lang="en-US" sz="1800" dirty="0"/>
              <a:t> – While lightweight, further optimization is needed for </a:t>
            </a:r>
            <a:r>
              <a:rPr lang="en-US" sz="1800" b="1" dirty="0"/>
              <a:t>very resource-constrained devices</a:t>
            </a:r>
            <a:r>
              <a:rPr lang="en-US" sz="1800" dirty="0"/>
              <a:t> like IoT nodes or mobile phones .</a:t>
            </a:r>
          </a:p>
          <a:p>
            <a:r>
              <a:rPr lang="en-US" sz="1800" b="1" dirty="0"/>
              <a:t>Interpretability Challenges</a:t>
            </a:r>
            <a:r>
              <a:rPr lang="en-US" sz="1800" dirty="0"/>
              <a:t> – Even with XAI methods (Grad-CAM, Saliency Maps), deep models still carry some “black box” concerns about full transparency 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6E0976AC-2054-56E8-7611-6DFA944D192B}"/>
              </a:ext>
            </a:extLst>
          </p:cNvPr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6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>
            <a:extLst>
              <a:ext uri="{FF2B5EF4-FFF2-40B4-BE49-F238E27FC236}">
                <a16:creationId xmlns:a16="http://schemas.microsoft.com/office/drawing/2014/main" id="{800431CC-689B-D7C5-1D49-6702BD7DF0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904258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5D7A0-F3F1-6E21-29E7-710C3B2CF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79205CE-8108-BFA4-8114-4C76198E9C8A}"/>
              </a:ext>
            </a:extLst>
          </p:cNvPr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EXISTING SYSTEM AND LITERATURE SURVEY</a:t>
            </a:r>
            <a:endParaRPr lang="en-IN" sz="36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8601F0-426D-83EE-81BE-2A7ECEAC1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916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Existing System :</a:t>
            </a:r>
          </a:p>
          <a:p>
            <a:r>
              <a:rPr lang="en-US" sz="1800" b="1" dirty="0"/>
              <a:t>Conventional methods</a:t>
            </a:r>
            <a:r>
              <a:rPr lang="en-US" sz="1800" dirty="0"/>
              <a:t> like satellite imagery, ground sensors, and manual monitoring are slow, error-prone, and ineffective for early fire detection.</a:t>
            </a:r>
          </a:p>
          <a:p>
            <a:r>
              <a:rPr lang="en-US" sz="1800" b="1" dirty="0"/>
              <a:t>Deep learning models</a:t>
            </a:r>
            <a:r>
              <a:rPr lang="en-US" sz="1800" dirty="0"/>
              <a:t> (Inception, VGG, </a:t>
            </a:r>
            <a:r>
              <a:rPr lang="en-US" sz="1800" dirty="0" err="1"/>
              <a:t>ResNet</a:t>
            </a:r>
            <a:r>
              <a:rPr lang="en-US" sz="1800" dirty="0"/>
              <a:t>) have been used but face challenges with limited datasets, noise in satellite/UAV images, and heavy computational needs.</a:t>
            </a:r>
          </a:p>
          <a:p>
            <a:r>
              <a:rPr lang="en-US" sz="1800" b="1" dirty="0"/>
              <a:t>Data augmentation</a:t>
            </a:r>
            <a:r>
              <a:rPr lang="en-US" sz="1800" dirty="0"/>
              <a:t> offers improvements but often adds artifacts, making current systems less reliable for real-time deployment on drones and low-power devices.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IN" sz="1800" b="1" dirty="0"/>
              <a:t>Literature Survey :</a:t>
            </a:r>
          </a:p>
          <a:p>
            <a:r>
              <a:rPr lang="en-IN" sz="1800" dirty="0"/>
              <a:t>Researchers applied </a:t>
            </a:r>
            <a:r>
              <a:rPr lang="en-IN" sz="1800" b="1" dirty="0"/>
              <a:t>CNN variants (</a:t>
            </a:r>
            <a:r>
              <a:rPr lang="en-IN" sz="1800" b="1" dirty="0" err="1"/>
              <a:t>ResNet</a:t>
            </a:r>
            <a:r>
              <a:rPr lang="en-IN" sz="1800" b="1" dirty="0"/>
              <a:t>, Detectron2, ACNN-BLSTM, </a:t>
            </a:r>
            <a:r>
              <a:rPr lang="en-IN" sz="1800" b="1" dirty="0" err="1"/>
              <a:t>TeutongNet</a:t>
            </a:r>
            <a:r>
              <a:rPr lang="en-IN" sz="1800" b="1" dirty="0"/>
              <a:t>)</a:t>
            </a:r>
            <a:r>
              <a:rPr lang="en-IN" sz="1800" dirty="0"/>
              <a:t> and </a:t>
            </a:r>
            <a:r>
              <a:rPr lang="en-IN" sz="1800" b="1" dirty="0"/>
              <a:t>object detection models (YOLO, Faster R-CNN, DETR)</a:t>
            </a:r>
            <a:r>
              <a:rPr lang="en-IN" sz="1800" dirty="0"/>
              <a:t> for wildfire detection, with varying success but deployment limitations.</a:t>
            </a:r>
          </a:p>
          <a:p>
            <a:r>
              <a:rPr lang="en-IN" sz="1800" b="1" dirty="0"/>
              <a:t>Generative models (GANs, Diffusion models)</a:t>
            </a:r>
            <a:r>
              <a:rPr lang="en-IN" sz="1800" dirty="0"/>
              <a:t> are explored to overcome data scarcity by producing synthetic fire/non-fire images for training deep learning systems.</a:t>
            </a:r>
          </a:p>
          <a:p>
            <a:r>
              <a:rPr lang="en-IN" sz="1800" b="1" dirty="0"/>
              <a:t>Explainable AI (Grad-CAM)</a:t>
            </a:r>
            <a:r>
              <a:rPr lang="en-IN" sz="1800" dirty="0"/>
              <a:t> has been integrated into fire detection to improve trust and interpretability, though challenges remain in dataset diversity and real-world generalization.</a:t>
            </a:r>
          </a:p>
          <a:p>
            <a:endParaRPr lang="en-US" sz="1800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D7B467FF-A8C9-34E8-59E3-C97A4ABCFB44}"/>
              </a:ext>
            </a:extLst>
          </p:cNvPr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7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>
            <a:extLst>
              <a:ext uri="{FF2B5EF4-FFF2-40B4-BE49-F238E27FC236}">
                <a16:creationId xmlns:a16="http://schemas.microsoft.com/office/drawing/2014/main" id="{148AEEE9-D68E-696A-7302-46D420C198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05247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4E64D-5DDB-0019-B2BB-9C79747C3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C916BFE-5AB8-B036-454E-3256A452C8E5}"/>
              </a:ext>
            </a:extLst>
          </p:cNvPr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LITERATURE SURVEY</a:t>
            </a:r>
            <a:endParaRPr lang="en-IN" sz="36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75A1BC-349A-39EC-2B86-6E87374FC4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916805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7E4DD92-0896-991F-A5ED-B38C8D486FDC}"/>
              </a:ext>
            </a:extLst>
          </p:cNvPr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8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>
            <a:extLst>
              <a:ext uri="{FF2B5EF4-FFF2-40B4-BE49-F238E27FC236}">
                <a16:creationId xmlns:a16="http://schemas.microsoft.com/office/drawing/2014/main" id="{3B74D064-22AE-298C-9255-A6733649AB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2CE762-A5CA-AB17-2A43-AC5B109BE9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203202"/>
              </p:ext>
            </p:extLst>
          </p:nvPr>
        </p:nvGraphicFramePr>
        <p:xfrm>
          <a:off x="168275" y="1401760"/>
          <a:ext cx="11901169" cy="4843327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944908">
                  <a:extLst>
                    <a:ext uri="{9D8B030D-6E8A-4147-A177-3AD203B41FA5}">
                      <a16:colId xmlns:a16="http://schemas.microsoft.com/office/drawing/2014/main" val="677675987"/>
                    </a:ext>
                  </a:extLst>
                </a:gridCol>
                <a:gridCol w="2455426">
                  <a:extLst>
                    <a:ext uri="{9D8B030D-6E8A-4147-A177-3AD203B41FA5}">
                      <a16:colId xmlns:a16="http://schemas.microsoft.com/office/drawing/2014/main" val="2954513886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1576514895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539315745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2494761429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1684525131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4285219558"/>
                    </a:ext>
                  </a:extLst>
                </a:gridCol>
              </a:tblGrid>
              <a:tr h="576127">
                <a:tc>
                  <a:txBody>
                    <a:bodyPr/>
                    <a:lstStyle/>
                    <a:p>
                      <a:r>
                        <a:rPr lang="en-US" sz="1400" dirty="0" err="1"/>
                        <a:t>S.No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 of the Article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Author’s Name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Publication Year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Pros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Gap Analysis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910616"/>
                  </a:ext>
                </a:extLst>
              </a:tr>
              <a:tr h="117886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400" b="0" dirty="0">
                          <a:effectLst/>
                        </a:rPr>
                        <a:t>1. </a:t>
                      </a:r>
                      <a:endParaRPr lang="en-IN" sz="1400" b="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Real-Time Detection of Forest Fires Using </a:t>
                      </a: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FireNet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-CNN and Explainable AI Techniques</a:t>
                      </a:r>
                      <a:endParaRPr lang="en-IN" sz="1400" b="1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Gazi Mohammad </a:t>
                      </a:r>
                      <a:r>
                        <a:rPr lang="en-US" sz="1400" b="0" dirty="0" err="1">
                          <a:effectLst/>
                        </a:rPr>
                        <a:t>Imdadul</a:t>
                      </a:r>
                      <a:r>
                        <a:rPr lang="en-US" sz="1400" b="0" dirty="0">
                          <a:effectLst/>
                        </a:rPr>
                        <a:t> Alam </a:t>
                      </a: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,Naima Tasnia </a:t>
                      </a: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, </a:t>
                      </a:r>
                      <a:r>
                        <a:rPr lang="en-US" sz="1400" b="0" dirty="0" err="1">
                          <a:effectLst/>
                        </a:rPr>
                        <a:t>Tapu</a:t>
                      </a:r>
                      <a:r>
                        <a:rPr lang="en-US" sz="1400" b="0" dirty="0">
                          <a:effectLst/>
                        </a:rPr>
                        <a:t> Biswas,</a:t>
                      </a: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Md. Jakir Hossen, Sharia Arfin Tanim,</a:t>
                      </a: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And Md. </a:t>
                      </a:r>
                      <a:r>
                        <a:rPr lang="en-US" sz="1400" b="0" dirty="0" err="1">
                          <a:effectLst/>
                        </a:rPr>
                        <a:t>Saef</a:t>
                      </a:r>
                      <a:r>
                        <a:rPr lang="en-US" sz="1400" b="0" dirty="0">
                          <a:effectLst/>
                        </a:rPr>
                        <a:t> Ullah Miah </a:t>
                      </a:r>
                      <a:endParaRPr lang="en-IN" sz="1400" b="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0">
                          <a:effectLst/>
                        </a:rPr>
                        <a:t>2025</a:t>
                      </a:r>
                      <a:endParaRPr lang="en-IN" sz="1400" b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Achieves high accuracy, precision, and recall; optimized for resource-constrained devices.</a:t>
                      </a:r>
                      <a:endParaRPr lang="en-IN" sz="1400" b="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Relies on synthetic data, The datasets may have class imbalance issues; requires extensive real-world validation.</a:t>
                      </a:r>
                      <a:endParaRPr lang="en-IN" sz="1400" b="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0" dirty="0">
                          <a:effectLst/>
                        </a:rPr>
                        <a:t>Proposing a custom, lightweight CNN with integrated XAI and diffusion model-based on data augmentation </a:t>
                      </a:r>
                      <a:endParaRPr lang="en-IN" sz="1400" b="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8593976"/>
                  </a:ext>
                </a:extLst>
              </a:tr>
              <a:tr h="117886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  <a:latin typeface="+mn-lt"/>
                          <a:ea typeface="Batang" panose="02030600000101010101" pitchFamily="18" charset="-127"/>
                          <a:cs typeface="Vrinda" panose="020B0502040204020203" pitchFamily="34" charset="0"/>
                        </a:rPr>
                        <a:t>2.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Forest Fire Detection Algorithm Based on Improved YOLOv11n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Kangqian Zhou and Shuihai Jiang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2025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Achieves high accuracy with lower computational complexity and faster inference speed,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Faces challenges from diverse targets and complex backgrounds in different fire scenario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More data augmentation techniques and model optimization methods needed.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0390980"/>
                  </a:ext>
                </a:extLst>
              </a:tr>
              <a:tr h="1229201">
                <a:tc>
                  <a:txBody>
                    <a:bodyPr/>
                    <a:lstStyle/>
                    <a:p>
                      <a:r>
                        <a:rPr lang="en-US" sz="1400" dirty="0"/>
                        <a:t>3.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</a:rPr>
                        <a:t>Real-Time Fire Object Detection System Using Machine Learning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Venkata Bhargavi </a:t>
                      </a:r>
                      <a:r>
                        <a:rPr lang="en-IN" sz="1400" dirty="0" err="1"/>
                        <a:t>Akuthota</a:t>
                      </a:r>
                      <a:r>
                        <a:rPr lang="en-IN" sz="1400" dirty="0"/>
                        <a:t>, Khadar Basha. Syed, Dhanush. Ramineni and</a:t>
                      </a:r>
                    </a:p>
                    <a:p>
                      <a:r>
                        <a:rPr lang="en-IN" sz="1400" dirty="0"/>
                        <a:t>Vikram </a:t>
                      </a:r>
                      <a:r>
                        <a:rPr lang="en-IN" sz="1400" dirty="0" err="1"/>
                        <a:t>Gudur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2025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Employs ML algorithms for enhanced early detection</a:t>
                      </a:r>
                      <a:endParaRPr lang="en-IN" sz="1400" dirty="0">
                        <a:effectLst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for alerting emergency responders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Fails in accuracy and response time in complex settings; prior work largely uses still images, needs temporal analysis. 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</a:rPr>
                        <a:t>Can Overcome by  integrating DL and CV to improve early warning systems.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04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672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E4BE0-7612-2EED-6C0A-B2A9DF9CA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BC543AF-8607-2383-F0DF-6A5F8A367A45}"/>
              </a:ext>
            </a:extLst>
          </p:cNvPr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LITERATURE SURVEY </a:t>
            </a:r>
            <a:endParaRPr lang="en-IN" sz="36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E66C8FC-0089-EC1A-CB34-C5CE97481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916805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D0A2C16B-F4BE-550E-B4E3-488381877092}"/>
              </a:ext>
            </a:extLst>
          </p:cNvPr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9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>
            <a:extLst>
              <a:ext uri="{FF2B5EF4-FFF2-40B4-BE49-F238E27FC236}">
                <a16:creationId xmlns:a16="http://schemas.microsoft.com/office/drawing/2014/main" id="{3F95F823-6681-499F-241E-9D5BE2D532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3A2E74-A666-5292-7DD9-7BFE393C8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843832"/>
              </p:ext>
            </p:extLst>
          </p:nvPr>
        </p:nvGraphicFramePr>
        <p:xfrm>
          <a:off x="168275" y="1401760"/>
          <a:ext cx="11901169" cy="49808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949877">
                  <a:extLst>
                    <a:ext uri="{9D8B030D-6E8A-4147-A177-3AD203B41FA5}">
                      <a16:colId xmlns:a16="http://schemas.microsoft.com/office/drawing/2014/main" val="677675987"/>
                    </a:ext>
                  </a:extLst>
                </a:gridCol>
                <a:gridCol w="2450457">
                  <a:extLst>
                    <a:ext uri="{9D8B030D-6E8A-4147-A177-3AD203B41FA5}">
                      <a16:colId xmlns:a16="http://schemas.microsoft.com/office/drawing/2014/main" val="2954513886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1576514895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539315745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2494761429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1684525131"/>
                    </a:ext>
                  </a:extLst>
                </a:gridCol>
                <a:gridCol w="1700167">
                  <a:extLst>
                    <a:ext uri="{9D8B030D-6E8A-4147-A177-3AD203B41FA5}">
                      <a16:colId xmlns:a16="http://schemas.microsoft.com/office/drawing/2014/main" val="4285219558"/>
                    </a:ext>
                  </a:extLst>
                </a:gridCol>
              </a:tblGrid>
              <a:tr h="551279">
                <a:tc>
                  <a:txBody>
                    <a:bodyPr/>
                    <a:lstStyle/>
                    <a:p>
                      <a:r>
                        <a:rPr lang="en-US" sz="1400" dirty="0" err="1"/>
                        <a:t>S.No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Name of the Article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Author’s Name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Publication Year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Pros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Cons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Gap Analysis</a:t>
                      </a:r>
                      <a:endParaRPr lang="en-I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82712"/>
                  </a:ext>
                </a:extLst>
              </a:tr>
              <a:tr h="1229201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400" b="0" dirty="0">
                          <a:effectLst/>
                        </a:rPr>
                        <a:t>4.</a:t>
                      </a:r>
                      <a:r>
                        <a:rPr lang="en-US" sz="1400" b="1" dirty="0">
                          <a:effectLst/>
                        </a:rPr>
                        <a:t> 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Hybrid Backbone-Based Deep Learning Model for Early Detection of Forest Fire Smoke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Gökalp Çınarer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2025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Uses Deep learning approach for high-accuracy fire signature detection from smoke. 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Ability to distinguish phenomena may weaken in dark, hazy, rainy, and smoggy weather.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Integrate different image processing and smoke detection techniques.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04495"/>
                  </a:ext>
                </a:extLst>
              </a:tr>
              <a:tr h="1229201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5.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1" dirty="0">
                          <a:effectLst/>
                        </a:rPr>
                        <a:t>Forest Fires in India: A Review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Reuben Sewak, Mehak Vashisth, Lovleen Gupta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 2021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Review of forest fire conditions in India; identifies vulnerable clusters and impacts on biodiversity, climate, and soil; outlines government strategies.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Ground-based detection systems are under-resourced, with poorly trained and unpaid staff.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An adaptive, long-term fire management plan is needed.</a:t>
                      </a:r>
                      <a:endParaRPr lang="en-IN" sz="1400" dirty="0">
                        <a:effectLst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Accounting of the economic costs and benefits of forest fires is needed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560997"/>
                  </a:ext>
                </a:extLst>
              </a:tr>
              <a:tr h="1229201"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6.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b="1">
                          <a:effectLst/>
                        </a:rPr>
                        <a:t>Convolution LSTM Network: A ML Approach for Precipitation Nowcasting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IN" sz="1400" dirty="0">
                          <a:effectLst/>
                          <a:latin typeface="+mn-lt"/>
                          <a:ea typeface="Batang" panose="02030600000101010101" pitchFamily="18" charset="-127"/>
                          <a:cs typeface="Vrinda" panose="020B0502040204020203" pitchFamily="34" charset="0"/>
                        </a:rPr>
                        <a:t>Xingjian Shi, </a:t>
                      </a:r>
                      <a:r>
                        <a:rPr lang="en-IN" sz="1400" dirty="0" err="1">
                          <a:effectLst/>
                          <a:latin typeface="+mn-lt"/>
                          <a:ea typeface="Batang" panose="02030600000101010101" pitchFamily="18" charset="-127"/>
                          <a:cs typeface="Vrinda" panose="020B0502040204020203" pitchFamily="34" charset="0"/>
                        </a:rPr>
                        <a:t>Zhourong</a:t>
                      </a:r>
                      <a:r>
                        <a:rPr lang="en-IN" sz="1400" dirty="0">
                          <a:effectLst/>
                          <a:latin typeface="+mn-lt"/>
                          <a:ea typeface="Batang" panose="02030600000101010101" pitchFamily="18" charset="-127"/>
                          <a:cs typeface="Vrinda" panose="020B0502040204020203" pitchFamily="34" charset="0"/>
                        </a:rPr>
                        <a:t> Chen, Hao Wang, Dit-Yan Yeung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2015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ConvLSTM outperform in capturing spatio-temporal correlations, handling boundary conditions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Blurring effect in longer-term predictions due to inherent uncertainity</a:t>
                      </a:r>
                      <a:endParaRPr lang="en-IN" sz="140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buNone/>
                      </a:pPr>
                      <a:r>
                        <a:rPr lang="en-US" sz="1400" dirty="0">
                          <a:effectLst/>
                        </a:rPr>
                        <a:t>Enable prediction of fire dynamics across consecutive time steps, in any  environment than CNN.</a:t>
                      </a:r>
                      <a:endParaRPr lang="en-IN" sz="1400" dirty="0">
                        <a:effectLst/>
                        <a:latin typeface="+mn-lt"/>
                        <a:ea typeface="Batang" panose="02030600000101010101" pitchFamily="18" charset="-127"/>
                        <a:cs typeface="Vrinda" panose="020B0502040204020203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9945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84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729CE-EC04-8C4C-E441-3799E00D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EDF2C37-4292-A697-5AAE-B7BB39CCE210}"/>
              </a:ext>
            </a:extLst>
          </p:cNvPr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SYSTEM DESIGN</a:t>
            </a:r>
            <a:endParaRPr lang="en-IN" sz="3600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22F03B8-7340-BA44-A257-75F66B1562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1" y="1343609"/>
            <a:ext cx="4850444" cy="3585544"/>
          </a:xfrm>
        </p:spPr>
      </p:pic>
      <p:sp>
        <p:nvSpPr>
          <p:cNvPr id="9" name="TextBox 6">
            <a:extLst>
              <a:ext uri="{FF2B5EF4-FFF2-40B4-BE49-F238E27FC236}">
                <a16:creationId xmlns:a16="http://schemas.microsoft.com/office/drawing/2014/main" id="{7E4C7ACE-7CC9-69CE-6E7C-68126D07E6BB}"/>
              </a:ext>
            </a:extLst>
          </p:cNvPr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10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>
            <a:extLst>
              <a:ext uri="{FF2B5EF4-FFF2-40B4-BE49-F238E27FC236}">
                <a16:creationId xmlns:a16="http://schemas.microsoft.com/office/drawing/2014/main" id="{17652171-A0AA-0AB4-352E-809E02D1C4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49108F-02BA-4321-951F-ABEFB9DDDB8B}"/>
              </a:ext>
            </a:extLst>
          </p:cNvPr>
          <p:cNvSpPr txBox="1"/>
          <p:nvPr/>
        </p:nvSpPr>
        <p:spPr>
          <a:xfrm>
            <a:off x="7306867" y="4927794"/>
            <a:ext cx="45358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Fig 2: Global forest area damage by wildfires (in million hectares)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9D1E7A2-B783-556F-313D-B16460CC1D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1086866"/>
              </p:ext>
            </p:extLst>
          </p:nvPr>
        </p:nvGraphicFramePr>
        <p:xfrm>
          <a:off x="243633" y="577532"/>
          <a:ext cx="5852367" cy="46734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D12CE34-823E-2516-8B54-8C2980495B0E}"/>
              </a:ext>
            </a:extLst>
          </p:cNvPr>
          <p:cNvSpPr txBox="1"/>
          <p:nvPr/>
        </p:nvSpPr>
        <p:spPr>
          <a:xfrm>
            <a:off x="243633" y="4958572"/>
            <a:ext cx="767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 1: Workflow of the Model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7575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IN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PROJECT MODULES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>
          <a:xfrm>
            <a:off x="168275" y="1260475"/>
            <a:ext cx="11901170" cy="4916805"/>
          </a:xfrm>
        </p:spPr>
        <p:txBody>
          <a:bodyPr>
            <a:noAutofit/>
          </a:bodyPr>
          <a:lstStyle/>
          <a:p>
            <a:r>
              <a:rPr lang="en-IN" sz="1800" b="1" dirty="0"/>
              <a:t>Data Collection &amp; Preprocessing</a:t>
            </a:r>
            <a:endParaRPr lang="en-IN" sz="1800" dirty="0"/>
          </a:p>
          <a:p>
            <a:pPr lvl="1"/>
            <a:r>
              <a:rPr lang="en-IN" sz="1800" dirty="0"/>
              <a:t>Use of diverse datasets (Dataset A &amp; B) containing fire and non-fire images.</a:t>
            </a:r>
          </a:p>
          <a:p>
            <a:pPr lvl="1"/>
            <a:r>
              <a:rPr lang="en-IN" sz="1800" dirty="0"/>
              <a:t>Segmentation techniques applied to highlight fire regions.</a:t>
            </a:r>
          </a:p>
          <a:p>
            <a:pPr lvl="1"/>
            <a:r>
              <a:rPr lang="en-IN" sz="1800" dirty="0"/>
              <a:t>Data augmentation with </a:t>
            </a:r>
            <a:r>
              <a:rPr lang="en-IN" sz="1800" b="1" dirty="0"/>
              <a:t>Stable Diffusion</a:t>
            </a:r>
            <a:r>
              <a:rPr lang="en-IN" sz="1800" dirty="0"/>
              <a:t> to overcome scarcity and improve diversity .</a:t>
            </a:r>
          </a:p>
          <a:p>
            <a:r>
              <a:rPr lang="en-IN" sz="1800" b="1" dirty="0"/>
              <a:t>Model Development (</a:t>
            </a:r>
            <a:r>
              <a:rPr lang="en-IN" sz="1800" b="1" dirty="0" err="1"/>
              <a:t>FireNet</a:t>
            </a:r>
            <a:r>
              <a:rPr lang="en-IN" sz="1800" b="1" dirty="0"/>
              <a:t>-CNN)</a:t>
            </a:r>
            <a:endParaRPr lang="en-IN" sz="1800" dirty="0"/>
          </a:p>
          <a:p>
            <a:pPr lvl="1"/>
            <a:r>
              <a:rPr lang="en-IN" sz="1800" dirty="0"/>
              <a:t>Custom CNN architecture with multiple convolution + pooling layers.</a:t>
            </a:r>
          </a:p>
          <a:p>
            <a:pPr lvl="1"/>
            <a:r>
              <a:rPr lang="en-IN" sz="1800" dirty="0"/>
              <a:t>Designed for efficient </a:t>
            </a:r>
            <a:r>
              <a:rPr lang="en-IN" sz="1800" b="1" dirty="0"/>
              <a:t>feature extraction and fire classification</a:t>
            </a:r>
            <a:r>
              <a:rPr lang="en-IN" sz="1800" dirty="0"/>
              <a:t>.</a:t>
            </a:r>
          </a:p>
          <a:p>
            <a:pPr lvl="1"/>
            <a:r>
              <a:rPr lang="en-IN" sz="1800" dirty="0"/>
              <a:t>Optimized with </a:t>
            </a:r>
            <a:r>
              <a:rPr lang="en-IN" sz="1800" b="1" dirty="0"/>
              <a:t>batch normalization, dropout, and Adam optimizer</a:t>
            </a:r>
            <a:r>
              <a:rPr lang="en-IN" sz="1800" dirty="0"/>
              <a:t> .</a:t>
            </a:r>
          </a:p>
          <a:p>
            <a:r>
              <a:rPr lang="en-IN" sz="1800" b="1" dirty="0"/>
              <a:t>Explainable AI Integration (XAI)</a:t>
            </a:r>
            <a:endParaRPr lang="en-IN" sz="1800" dirty="0"/>
          </a:p>
          <a:p>
            <a:pPr lvl="1"/>
            <a:r>
              <a:rPr lang="en-IN" sz="1800" dirty="0"/>
              <a:t>Grad-CAM used to visualize fire-detection focus regions.</a:t>
            </a:r>
          </a:p>
          <a:p>
            <a:pPr lvl="1"/>
            <a:r>
              <a:rPr lang="en-IN" sz="1800" dirty="0"/>
              <a:t>Saliency Maps applied for pixel-level interpretability.</a:t>
            </a:r>
          </a:p>
          <a:p>
            <a:pPr lvl="1"/>
            <a:r>
              <a:rPr lang="en-IN" sz="1800" dirty="0"/>
              <a:t>Provides </a:t>
            </a:r>
            <a:r>
              <a:rPr lang="en-IN" sz="1800" b="1" dirty="0"/>
              <a:t>trust, transparency, and stakeholder confidence</a:t>
            </a:r>
            <a:r>
              <a:rPr lang="en-IN" sz="1800" dirty="0"/>
              <a:t> .</a:t>
            </a:r>
          </a:p>
          <a:p>
            <a:r>
              <a:rPr lang="en-IN" sz="1800" b="1" dirty="0"/>
              <a:t>Performance Evaluation</a:t>
            </a:r>
            <a:endParaRPr lang="en-IN" sz="1800" dirty="0"/>
          </a:p>
          <a:p>
            <a:pPr lvl="1"/>
            <a:r>
              <a:rPr lang="en-IN" sz="1800" dirty="0"/>
              <a:t>Compared with pre-trained models (VGG16, VGG19, InceptionV3).</a:t>
            </a:r>
          </a:p>
          <a:p>
            <a:pPr lvl="1"/>
            <a:r>
              <a:rPr lang="en-IN" sz="1800" dirty="0"/>
              <a:t>Validated using metrics like accuracy, precision, recall, F1-score, ROC-AUC.</a:t>
            </a:r>
          </a:p>
          <a:p>
            <a:pPr lvl="1"/>
            <a:r>
              <a:rPr lang="en-IN" sz="1800" dirty="0"/>
              <a:t>Ablation studies confirmed importance of CNN layers &amp; hyperparameters 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11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9EB0-0833-6F57-F001-B1CFB04E7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5274C47-F66C-AFE4-B417-E7B70B4DAE47}"/>
              </a:ext>
            </a:extLst>
          </p:cNvPr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IN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IMPLEMENTATIONS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F7DD42A-BA1E-9CCD-A9AB-AD40AFC427F3}"/>
              </a:ext>
            </a:extLst>
          </p:cNvPr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12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>
            <a:extLst>
              <a:ext uri="{FF2B5EF4-FFF2-40B4-BE49-F238E27FC236}">
                <a16:creationId xmlns:a16="http://schemas.microsoft.com/office/drawing/2014/main" id="{9AD1A0D1-6725-56BA-AD28-C726D97FD0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293ADF-354B-DFDB-9D14-B29B6E56B6BF}"/>
              </a:ext>
            </a:extLst>
          </p:cNvPr>
          <p:cNvSpPr txBox="1"/>
          <p:nvPr/>
        </p:nvSpPr>
        <p:spPr>
          <a:xfrm>
            <a:off x="290830" y="1971194"/>
            <a:ext cx="116103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More Real-World Data </a:t>
            </a:r>
            <a:r>
              <a:rPr lang="en-US" dirty="0"/>
              <a:t>– Collecting and labeling more fire/no-fire images from different regions and weather conditions. </a:t>
            </a:r>
          </a:p>
          <a:p>
            <a:endParaRPr lang="en-US" dirty="0"/>
          </a:p>
          <a:p>
            <a:r>
              <a:rPr lang="en-US" b="1" dirty="0"/>
              <a:t>Improved Data Augmentation </a:t>
            </a:r>
            <a:r>
              <a:rPr lang="en-US" dirty="0"/>
              <a:t>– Instead of relying mainly on diffusion models, use GANs + self-supervised learning to generate more realistic data.</a:t>
            </a:r>
          </a:p>
          <a:p>
            <a:endParaRPr lang="en-US" dirty="0"/>
          </a:p>
          <a:p>
            <a:r>
              <a:rPr lang="en-US" b="1" dirty="0"/>
              <a:t>Lighter Architectures </a:t>
            </a:r>
            <a:r>
              <a:rPr lang="en-US" dirty="0"/>
              <a:t>– Optimize further using </a:t>
            </a:r>
            <a:r>
              <a:rPr lang="en-US" dirty="0" err="1"/>
              <a:t>MobileNet</a:t>
            </a:r>
            <a:r>
              <a:rPr lang="en-US" dirty="0"/>
              <a:t>, </a:t>
            </a:r>
            <a:r>
              <a:rPr lang="en-US" dirty="0" err="1"/>
              <a:t>EfficientNet</a:t>
            </a:r>
            <a:r>
              <a:rPr lang="en-US" dirty="0"/>
              <a:t>, or pruning/quantization for deployment on very resource-limited edge devices. </a:t>
            </a:r>
          </a:p>
          <a:p>
            <a:endParaRPr lang="en-US" dirty="0"/>
          </a:p>
          <a:p>
            <a:r>
              <a:rPr lang="en-US" b="1" dirty="0"/>
              <a:t>Integration with IoT/Alert Systems </a:t>
            </a:r>
            <a:r>
              <a:rPr lang="en-US" dirty="0"/>
              <a:t>– Direct link to fire alarm systems, drones, or firefighting teams for automated response, not just detection.</a:t>
            </a:r>
          </a:p>
          <a:p>
            <a:endParaRPr lang="en-US" dirty="0"/>
          </a:p>
          <a:p>
            <a:r>
              <a:rPr lang="en-US" b="1" dirty="0"/>
              <a:t>Continuous Learning </a:t>
            </a:r>
            <a:r>
              <a:rPr lang="en-US" dirty="0"/>
              <a:t>– Use online learning so the model keeps improving as new wildfire data arrives. </a:t>
            </a:r>
          </a:p>
        </p:txBody>
      </p:sp>
    </p:spTree>
    <p:extLst>
      <p:ext uri="{BB962C8B-B14F-4D97-AF65-F5344CB8AC3E}">
        <p14:creationId xmlns:p14="http://schemas.microsoft.com/office/powerpoint/2010/main" val="2942069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236AE-F3D6-4DA6-A10C-65C7389D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FAACB4E-AA9F-D52E-1322-A4294F4A1C68}"/>
              </a:ext>
            </a:extLst>
          </p:cNvPr>
          <p:cNvSpPr>
            <a:spLocks noGrp="1"/>
          </p:cNvSpPr>
          <p:nvPr/>
        </p:nvSpPr>
        <p:spPr>
          <a:xfrm>
            <a:off x="0" y="-635"/>
            <a:ext cx="10530205" cy="1040765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IN" sz="3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209A1139-E748-475C-2B41-B045FCB101F6}"/>
              </a:ext>
            </a:extLst>
          </p:cNvPr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13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1" name="Content Placeholder 100">
            <a:extLst>
              <a:ext uri="{FF2B5EF4-FFF2-40B4-BE49-F238E27FC236}">
                <a16:creationId xmlns:a16="http://schemas.microsoft.com/office/drawing/2014/main" id="{C2642777-82A1-AEF4-DBE9-7DE5411151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31805" y="-635"/>
            <a:ext cx="1437640" cy="115633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0585FE-A8D6-3D82-237F-9187B8AD0C2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0" y="1345029"/>
            <a:ext cx="1248031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Accuracy &amp; Reliability 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FireNet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-CNN achieved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99.05% accuracy, 99.41% precision, and 98.28% recall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outperforming existing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 minimizes false positives, ensuring timely and dependable wildfire detection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Explainable &amp; Practical 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Integration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Grad-CAM and Saliency Maps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interpretability and trust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making it suitable for real-world 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model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lightweight (10.58 MB)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fast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0.95s per image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ideal for drones, IoT devices, and remote sensors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Addressing Dataset Limitations :-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synthetic images (Stable Diffusion)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helped overcome data scarcity and imbalance, improving model generalization.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Still, further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real-world validation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across diverse forest types, lighting conditions, and seasonal variations is needed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Scope 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Enhance dataset diversity (fog, smoke, clouds).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Explore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augmentation, transfer learning, and domain adaptation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Optimize further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resource-constrained devices (IoT, mobiles, edge computing)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7536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40365" cy="1011555"/>
          </a:xfrm>
          <a:solidFill>
            <a:srgbClr val="002060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References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of </a:t>
            </a:r>
            <a:r>
              <a:rPr lang="en-US" alt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14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02" name="Content Placeholder 10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41000" y="0"/>
            <a:ext cx="1505585" cy="10115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CAE84B-20B2-0377-03B7-FC2AF59EA4B1}"/>
              </a:ext>
            </a:extLst>
          </p:cNvPr>
          <p:cNvSpPr txBox="1"/>
          <p:nvPr/>
        </p:nvSpPr>
        <p:spPr>
          <a:xfrm>
            <a:off x="102637" y="1111460"/>
            <a:ext cx="1194394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[1] “Forest Fire Detection Algorithm Based on Improved YOLOv11n”, </a:t>
            </a:r>
            <a:r>
              <a:rPr lang="en-IN" dirty="0" err="1"/>
              <a:t>Kangqian</a:t>
            </a:r>
            <a:r>
              <a:rPr lang="en-IN" dirty="0"/>
              <a:t> Zhou and </a:t>
            </a:r>
            <a:r>
              <a:rPr lang="en-IN" dirty="0" err="1"/>
              <a:t>Shuihai</a:t>
            </a:r>
            <a:r>
              <a:rPr lang="en-IN" dirty="0"/>
              <a:t> Jiang School of Mechanical and Electronic Engineering, Nanjing Forestry University, Nanjing 210037, China; Institute of Intelligent Control and Robotics Technology, Nanjing Forestry University, Nanjing 210037, China Year: 2025 </a:t>
            </a:r>
          </a:p>
          <a:p>
            <a:r>
              <a:rPr lang="en-IN" dirty="0"/>
              <a:t>[2] “Real-Time Fire Object Detection System Using Machine Learning” -Venkata Bhargavi. </a:t>
            </a:r>
            <a:r>
              <a:rPr lang="en-IN" dirty="0" err="1"/>
              <a:t>Akuthota</a:t>
            </a:r>
            <a:r>
              <a:rPr lang="en-IN" dirty="0"/>
              <a:t> , Khadar Basha Syed, Dhanush Ramineni , and Vikram Guduru, Department of CSE, Vignan’s Foundation for Science, Technology and Research Vadlamudi, Guntur, Andhra Pradesh, India</a:t>
            </a:r>
          </a:p>
          <a:p>
            <a:r>
              <a:rPr lang="en-IN" dirty="0"/>
              <a:t>[3] “Real-Time Detection of Forest Fires Using </a:t>
            </a:r>
            <a:r>
              <a:rPr lang="en-IN" dirty="0" err="1"/>
              <a:t>FireNet</a:t>
            </a:r>
            <a:r>
              <a:rPr lang="en-IN" dirty="0"/>
              <a:t>-CNN and Explainable AI Techniques” Gazi Mohammad </a:t>
            </a:r>
            <a:r>
              <a:rPr lang="en-IN" dirty="0" err="1"/>
              <a:t>Imdadul</a:t>
            </a:r>
            <a:r>
              <a:rPr lang="en-IN" dirty="0"/>
              <a:t> Alam , Naima Tasnia, </a:t>
            </a:r>
            <a:r>
              <a:rPr lang="en-IN" dirty="0" err="1"/>
              <a:t>Tapu</a:t>
            </a:r>
            <a:r>
              <a:rPr lang="en-IN" dirty="0"/>
              <a:t> Biswas, MD Jakir Hossen (Senior Member, IEEE), Sharia Arfin Tanim, and MD </a:t>
            </a:r>
            <a:r>
              <a:rPr lang="en-IN" dirty="0" err="1"/>
              <a:t>Saef</a:t>
            </a:r>
            <a:r>
              <a:rPr lang="en-IN" dirty="0"/>
              <a:t> Ullah Miah Year: 2025</a:t>
            </a:r>
          </a:p>
          <a:p>
            <a:r>
              <a:rPr lang="en-IN" dirty="0"/>
              <a:t>[4]  “Hybrid Backbone-Based Deep Learning Model for Early Detection of Forest Fire Smoke”, Gökalp </a:t>
            </a:r>
            <a:r>
              <a:rPr lang="en-IN" dirty="0" err="1"/>
              <a:t>Çınarer</a:t>
            </a:r>
            <a:r>
              <a:rPr lang="en-IN" dirty="0"/>
              <a:t> Year: 2025</a:t>
            </a:r>
          </a:p>
          <a:p>
            <a:r>
              <a:rPr lang="en-IN" dirty="0"/>
              <a:t>[5] “Forest Fires in India: A Review”, Reuben Sewak1, Mehak Vashisth1, Lovleen Gupta1 Year: 2021</a:t>
            </a:r>
          </a:p>
          <a:p>
            <a:r>
              <a:rPr lang="en-IN" dirty="0"/>
              <a:t>[6] “Convolutional LSTM Network: A Machine Learning Approach for Precipitation Nowcasting”, Xingjian Shi , </a:t>
            </a:r>
            <a:r>
              <a:rPr lang="en-IN" dirty="0" err="1"/>
              <a:t>Zhourong</a:t>
            </a:r>
            <a:r>
              <a:rPr lang="en-IN" dirty="0"/>
              <a:t> Chen , Hao Wang, Dit-Yan Yeung Department of Computer Science and Engineering, Hong Kong University of Science and Technology Year:2015 </a:t>
            </a:r>
          </a:p>
          <a:p>
            <a:r>
              <a:rPr lang="en-IN" dirty="0"/>
              <a:t>[7]“Grad-CAM: Visual Explanations from Deep Networks via Gradient-based Localization”, </a:t>
            </a:r>
            <a:r>
              <a:rPr lang="en-IN" dirty="0" err="1"/>
              <a:t>Ramprasaath</a:t>
            </a:r>
            <a:r>
              <a:rPr lang="en-IN" dirty="0"/>
              <a:t> R. Selvaraju , Michael Cogswell , Abhishek Das , Ramakrishna </a:t>
            </a:r>
            <a:r>
              <a:rPr lang="en-IN" dirty="0" err="1"/>
              <a:t>Vedantam</a:t>
            </a:r>
            <a:r>
              <a:rPr lang="en-IN" dirty="0"/>
              <a:t> , Devi Parikh , Dhruv Batra Year: 2019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6538912"/>
            <a:ext cx="12192000" cy="36830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Dept. </a:t>
            </a:r>
            <a:r>
              <a:rPr lang="en-IN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of </a:t>
            </a:r>
            <a:r>
              <a:rPr lang="en-US" altLang="en-IN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AI&amp;ML, RRCE</a:t>
            </a:r>
            <a:r>
              <a:rPr lang="en-IN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</a:t>
            </a:r>
            <a:fld id="{A779D412-7551-4DA0-A19D-519BB8214474}" type="slidenum">
              <a:rPr lang="en-IN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15</a:t>
            </a:fld>
            <a:endParaRPr lang="en-IN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543340" y="1196664"/>
            <a:ext cx="11080336" cy="5110830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96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103" name="Picture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10168255" y="-635"/>
            <a:ext cx="1455420" cy="1136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31F2BF-0C5A-0024-909B-CBB939BED3D4}"/>
              </a:ext>
            </a:extLst>
          </p:cNvPr>
          <p:cNvSpPr/>
          <p:nvPr/>
        </p:nvSpPr>
        <p:spPr>
          <a:xfrm>
            <a:off x="568325" y="59690"/>
            <a:ext cx="9356310" cy="1016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I VIDYA INSTITUTE OF TECHNOLOG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SAI VIDYA INSTITUTE OF TECHNOLOGY</Template>
  <TotalTime>575</TotalTime>
  <Words>2201</Words>
  <Application>Microsoft Office PowerPoint</Application>
  <PresentationFormat>Widescreen</PresentationFormat>
  <Paragraphs>231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SAI VIDYA INSTITUTE OF TECHNOLOGY</vt:lpstr>
      <vt:lpstr>RAJARAJESWARI COLLEGE OF ENGINNERING</vt:lpstr>
      <vt:lpstr>Presentation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 VIDYA INSTITUTE OF TECHNOLOGY</dc:title>
  <dc:creator>abhijith</dc:creator>
  <cp:lastModifiedBy>VISHAL SV</cp:lastModifiedBy>
  <cp:revision>47</cp:revision>
  <dcterms:created xsi:type="dcterms:W3CDTF">2018-09-27T05:23:00Z</dcterms:created>
  <dcterms:modified xsi:type="dcterms:W3CDTF">2025-09-10T06:09:08Z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1438E5A0A73848F3905F444746EDD901_12</vt:lpwstr>
  </property>
  <property fmtid="{D5CDD505-2E9C-101B-9397-08002B2CF9AE}" pid="3" name="KSOProductBuildVer">
    <vt:lpwstr>1033-12.2.0.13266</vt:lpwstr>
  </property>
</Properties>
</file>